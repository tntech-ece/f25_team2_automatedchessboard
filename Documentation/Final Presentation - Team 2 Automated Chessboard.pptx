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8"/>
  </p:notesMasterIdLst>
  <p:sldIdLst>
    <p:sldId id="256" r:id="rId5"/>
    <p:sldId id="284" r:id="rId6"/>
    <p:sldId id="264" r:id="rId7"/>
    <p:sldId id="265" r:id="rId8"/>
    <p:sldId id="285" r:id="rId9"/>
    <p:sldId id="266" r:id="rId10"/>
    <p:sldId id="286" r:id="rId11"/>
    <p:sldId id="283" r:id="rId12"/>
    <p:sldId id="282" r:id="rId13"/>
    <p:sldId id="267" r:id="rId14"/>
    <p:sldId id="287" r:id="rId15"/>
    <p:sldId id="276" r:id="rId16"/>
    <p:sldId id="309" r:id="rId17"/>
    <p:sldId id="308" r:id="rId18"/>
    <p:sldId id="310" r:id="rId19"/>
    <p:sldId id="281" r:id="rId20"/>
    <p:sldId id="311" r:id="rId21"/>
    <p:sldId id="279" r:id="rId22"/>
    <p:sldId id="312" r:id="rId23"/>
    <p:sldId id="307" r:id="rId24"/>
    <p:sldId id="313" r:id="rId25"/>
    <p:sldId id="301" r:id="rId26"/>
    <p:sldId id="314" r:id="rId27"/>
    <p:sldId id="305" r:id="rId28"/>
    <p:sldId id="315" r:id="rId29"/>
    <p:sldId id="317" r:id="rId30"/>
    <p:sldId id="296" r:id="rId31"/>
    <p:sldId id="297" r:id="rId32"/>
    <p:sldId id="302" r:id="rId33"/>
    <p:sldId id="300" r:id="rId34"/>
    <p:sldId id="303" r:id="rId35"/>
    <p:sldId id="318" r:id="rId36"/>
    <p:sldId id="27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2D05E-FAC1-42AD-BD9F-10609E500FFC}" v="1" dt="2026-04-30T04:04:39.493"/>
    <p1510:client id="{EBEF0FD8-6637-BD3E-50E9-85FCCA424971}" v="207" dt="2026-04-29T21:04:06.3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4B17C2A4-F3DE-42C0-9B96-E3EB19601CB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13207E7-1B92-462D-BADF-B658C2A950C7}">
      <dgm:prSet/>
      <dgm:spPr/>
      <dgm:t>
        <a:bodyPr/>
        <a:lstStyle/>
        <a:p>
          <a:r>
            <a:rPr lang="en-US"/>
            <a:t>Board shall reliably take in voice input of any kind.</a:t>
          </a:r>
        </a:p>
      </dgm:t>
    </dgm:pt>
    <dgm:pt modelId="{D6A0FB9E-E149-427E-BFC0-92947D1AE64E}" type="parTrans" cxnId="{E947ED3A-C8E0-45D3-8267-93A927E4A654}">
      <dgm:prSet/>
      <dgm:spPr/>
      <dgm:t>
        <a:bodyPr/>
        <a:lstStyle/>
        <a:p>
          <a:endParaRPr lang="en-US"/>
        </a:p>
      </dgm:t>
    </dgm:pt>
    <dgm:pt modelId="{69D44E56-1444-471B-9BA2-1756C2104769}" type="sibTrans" cxnId="{E947ED3A-C8E0-45D3-8267-93A927E4A654}">
      <dgm:prSet/>
      <dgm:spPr/>
      <dgm:t>
        <a:bodyPr/>
        <a:lstStyle/>
        <a:p>
          <a:endParaRPr lang="en-US"/>
        </a:p>
      </dgm:t>
    </dgm:pt>
    <dgm:pt modelId="{85A8B10D-3671-411B-AA05-13FA6C890321}">
      <dgm:prSet/>
      <dgm:spPr/>
      <dgm:t>
        <a:bodyPr/>
        <a:lstStyle/>
        <a:p>
          <a:r>
            <a:rPr lang="en-US"/>
            <a:t>Board shall be able to consistently and precisely move chess pieces autonomously.</a:t>
          </a:r>
        </a:p>
      </dgm:t>
    </dgm:pt>
    <dgm:pt modelId="{A1177452-D7A6-47F7-BEDA-D46D98E4FC25}" type="parTrans" cxnId="{F14CAAB6-ACF5-49CB-8E0E-A10CDD5F883E}">
      <dgm:prSet/>
      <dgm:spPr/>
      <dgm:t>
        <a:bodyPr/>
        <a:lstStyle/>
        <a:p>
          <a:endParaRPr lang="en-US"/>
        </a:p>
      </dgm:t>
    </dgm:pt>
    <dgm:pt modelId="{0A676D62-F21F-4021-B120-C1FE511E7E54}" type="sibTrans" cxnId="{F14CAAB6-ACF5-49CB-8E0E-A10CDD5F883E}">
      <dgm:prSet/>
      <dgm:spPr/>
      <dgm:t>
        <a:bodyPr/>
        <a:lstStyle/>
        <a:p>
          <a:endParaRPr lang="en-US"/>
        </a:p>
      </dgm:t>
    </dgm:pt>
    <dgm:pt modelId="{7F6F3314-8AD6-4F65-BF63-3D91BA9E72C2}">
      <dgm:prSet/>
      <dgm:spPr/>
      <dgm:t>
        <a:bodyPr/>
        <a:lstStyle/>
        <a:p>
          <a:r>
            <a:rPr lang="en-US"/>
            <a:t>Board shall be cheaper than existing commercial solutions (~$500).</a:t>
          </a:r>
        </a:p>
      </dgm:t>
    </dgm:pt>
    <dgm:pt modelId="{82D0C25B-743B-4E3F-BD5C-C10D969FA8BA}" type="parTrans" cxnId="{5472F0B1-4535-4AEE-A7AB-CDF784FF43D2}">
      <dgm:prSet/>
      <dgm:spPr/>
      <dgm:t>
        <a:bodyPr/>
        <a:lstStyle/>
        <a:p>
          <a:endParaRPr lang="en-US"/>
        </a:p>
      </dgm:t>
    </dgm:pt>
    <dgm:pt modelId="{3B2AF42E-B99E-482F-B352-5B0F6681E115}" type="sibTrans" cxnId="{5472F0B1-4535-4AEE-A7AB-CDF784FF43D2}">
      <dgm:prSet/>
      <dgm:spPr/>
      <dgm:t>
        <a:bodyPr/>
        <a:lstStyle/>
        <a:p>
          <a:endParaRPr lang="en-US"/>
        </a:p>
      </dgm:t>
    </dgm:pt>
    <dgm:pt modelId="{9308C0A7-2169-48A7-8F26-ADB73694DD11}" type="pres">
      <dgm:prSet presAssocID="{4B17C2A4-F3DE-42C0-9B96-E3EB19601CBB}" presName="root" presStyleCnt="0">
        <dgm:presLayoutVars>
          <dgm:dir/>
          <dgm:resizeHandles val="exact"/>
        </dgm:presLayoutVars>
      </dgm:prSet>
      <dgm:spPr/>
    </dgm:pt>
    <dgm:pt modelId="{5DD1C7AC-0468-4A25-BD77-B3B6FE2E22D7}" type="pres">
      <dgm:prSet presAssocID="{F13207E7-1B92-462D-BADF-B658C2A950C7}" presName="compNode" presStyleCnt="0"/>
      <dgm:spPr/>
    </dgm:pt>
    <dgm:pt modelId="{A3D9CE6E-E484-4E9B-B68E-C7DF3FCA3F6B}" type="pres">
      <dgm:prSet presAssocID="{F13207E7-1B92-462D-BADF-B658C2A950C7}" presName="bgRect" presStyleLbl="bgShp" presStyleIdx="0" presStyleCnt="3"/>
      <dgm:spPr/>
    </dgm:pt>
    <dgm:pt modelId="{F140C23A-BC48-48E9-B932-0FCF40FDA3A3}" type="pres">
      <dgm:prSet presAssocID="{F13207E7-1B92-462D-BADF-B658C2A950C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odcast"/>
        </a:ext>
      </dgm:extLst>
    </dgm:pt>
    <dgm:pt modelId="{D8A2F772-E1E1-4778-87A5-2AF261E842E6}" type="pres">
      <dgm:prSet presAssocID="{F13207E7-1B92-462D-BADF-B658C2A950C7}" presName="spaceRect" presStyleCnt="0"/>
      <dgm:spPr/>
    </dgm:pt>
    <dgm:pt modelId="{C89E19DA-7D48-4778-A77C-5812090A3463}" type="pres">
      <dgm:prSet presAssocID="{F13207E7-1B92-462D-BADF-B658C2A950C7}" presName="parTx" presStyleLbl="revTx" presStyleIdx="0" presStyleCnt="3">
        <dgm:presLayoutVars>
          <dgm:chMax val="0"/>
          <dgm:chPref val="0"/>
        </dgm:presLayoutVars>
      </dgm:prSet>
      <dgm:spPr/>
    </dgm:pt>
    <dgm:pt modelId="{8FD6426A-3066-4544-ABFC-8FE161FD9C63}" type="pres">
      <dgm:prSet presAssocID="{69D44E56-1444-471B-9BA2-1756C2104769}" presName="sibTrans" presStyleCnt="0"/>
      <dgm:spPr/>
    </dgm:pt>
    <dgm:pt modelId="{DFB4BCBE-BD1C-49EE-AD4E-98F12E9EE717}" type="pres">
      <dgm:prSet presAssocID="{85A8B10D-3671-411B-AA05-13FA6C890321}" presName="compNode" presStyleCnt="0"/>
      <dgm:spPr/>
    </dgm:pt>
    <dgm:pt modelId="{A2E5F156-BC8B-48C5-93DB-00C15F8C09FB}" type="pres">
      <dgm:prSet presAssocID="{85A8B10D-3671-411B-AA05-13FA6C890321}" presName="bgRect" presStyleLbl="bgShp" presStyleIdx="1" presStyleCnt="3"/>
      <dgm:spPr/>
    </dgm:pt>
    <dgm:pt modelId="{882EF336-167F-40AA-8B02-447663947767}" type="pres">
      <dgm:prSet presAssocID="{85A8B10D-3671-411B-AA05-13FA6C89032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ss Pieces"/>
        </a:ext>
      </dgm:extLst>
    </dgm:pt>
    <dgm:pt modelId="{BBF7C419-8188-4855-BAAD-92568F534309}" type="pres">
      <dgm:prSet presAssocID="{85A8B10D-3671-411B-AA05-13FA6C890321}" presName="spaceRect" presStyleCnt="0"/>
      <dgm:spPr/>
    </dgm:pt>
    <dgm:pt modelId="{74219852-E43D-4D02-9E56-C1D85CC15065}" type="pres">
      <dgm:prSet presAssocID="{85A8B10D-3671-411B-AA05-13FA6C890321}" presName="parTx" presStyleLbl="revTx" presStyleIdx="1" presStyleCnt="3">
        <dgm:presLayoutVars>
          <dgm:chMax val="0"/>
          <dgm:chPref val="0"/>
        </dgm:presLayoutVars>
      </dgm:prSet>
      <dgm:spPr/>
    </dgm:pt>
    <dgm:pt modelId="{CD121D04-DC16-4033-ACE6-06E2A4B23B19}" type="pres">
      <dgm:prSet presAssocID="{0A676D62-F21F-4021-B120-C1FE511E7E54}" presName="sibTrans" presStyleCnt="0"/>
      <dgm:spPr/>
    </dgm:pt>
    <dgm:pt modelId="{BC3F68FA-CA70-4E4F-827B-091B93CDF6E9}" type="pres">
      <dgm:prSet presAssocID="{7F6F3314-8AD6-4F65-BF63-3D91BA9E72C2}" presName="compNode" presStyleCnt="0"/>
      <dgm:spPr/>
    </dgm:pt>
    <dgm:pt modelId="{24E456F1-53DF-4BCC-BC73-59589AF63252}" type="pres">
      <dgm:prSet presAssocID="{7F6F3314-8AD6-4F65-BF63-3D91BA9E72C2}" presName="bgRect" presStyleLbl="bgShp" presStyleIdx="2" presStyleCnt="3"/>
      <dgm:spPr/>
    </dgm:pt>
    <dgm:pt modelId="{62C709E3-BBDA-4BEA-AF58-58024E18D88A}" type="pres">
      <dgm:prSet presAssocID="{7F6F3314-8AD6-4F65-BF63-3D91BA9E72C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llar"/>
        </a:ext>
      </dgm:extLst>
    </dgm:pt>
    <dgm:pt modelId="{1E9B2CA6-4DEA-4EEA-951E-9BD26F8BD61F}" type="pres">
      <dgm:prSet presAssocID="{7F6F3314-8AD6-4F65-BF63-3D91BA9E72C2}" presName="spaceRect" presStyleCnt="0"/>
      <dgm:spPr/>
    </dgm:pt>
    <dgm:pt modelId="{15D42111-45CF-4512-BA4A-6FA71AAC8144}" type="pres">
      <dgm:prSet presAssocID="{7F6F3314-8AD6-4F65-BF63-3D91BA9E72C2}" presName="parTx" presStyleLbl="revTx" presStyleIdx="2" presStyleCnt="3">
        <dgm:presLayoutVars>
          <dgm:chMax val="0"/>
          <dgm:chPref val="0"/>
        </dgm:presLayoutVars>
      </dgm:prSet>
      <dgm:spPr/>
    </dgm:pt>
  </dgm:ptLst>
  <dgm:cxnLst>
    <dgm:cxn modelId="{B1820C27-84F8-4100-B5FD-CE0C1EE094A4}" type="presOf" srcId="{4B17C2A4-F3DE-42C0-9B96-E3EB19601CBB}" destId="{9308C0A7-2169-48A7-8F26-ADB73694DD11}" srcOrd="0" destOrd="0" presId="urn:microsoft.com/office/officeart/2018/2/layout/IconVerticalSolidList"/>
    <dgm:cxn modelId="{E947ED3A-C8E0-45D3-8267-93A927E4A654}" srcId="{4B17C2A4-F3DE-42C0-9B96-E3EB19601CBB}" destId="{F13207E7-1B92-462D-BADF-B658C2A950C7}" srcOrd="0" destOrd="0" parTransId="{D6A0FB9E-E149-427E-BFC0-92947D1AE64E}" sibTransId="{69D44E56-1444-471B-9BA2-1756C2104769}"/>
    <dgm:cxn modelId="{5DCAED43-224A-4088-9991-BC1BADA69D72}" type="presOf" srcId="{85A8B10D-3671-411B-AA05-13FA6C890321}" destId="{74219852-E43D-4D02-9E56-C1D85CC15065}" srcOrd="0" destOrd="0" presId="urn:microsoft.com/office/officeart/2018/2/layout/IconVerticalSolidList"/>
    <dgm:cxn modelId="{B59C9B80-0B5D-4E6B-AFAC-C5644726C7B8}" type="presOf" srcId="{7F6F3314-8AD6-4F65-BF63-3D91BA9E72C2}" destId="{15D42111-45CF-4512-BA4A-6FA71AAC8144}" srcOrd="0" destOrd="0" presId="urn:microsoft.com/office/officeart/2018/2/layout/IconVerticalSolidList"/>
    <dgm:cxn modelId="{5472F0B1-4535-4AEE-A7AB-CDF784FF43D2}" srcId="{4B17C2A4-F3DE-42C0-9B96-E3EB19601CBB}" destId="{7F6F3314-8AD6-4F65-BF63-3D91BA9E72C2}" srcOrd="2" destOrd="0" parTransId="{82D0C25B-743B-4E3F-BD5C-C10D969FA8BA}" sibTransId="{3B2AF42E-B99E-482F-B352-5B0F6681E115}"/>
    <dgm:cxn modelId="{F14CAAB6-ACF5-49CB-8E0E-A10CDD5F883E}" srcId="{4B17C2A4-F3DE-42C0-9B96-E3EB19601CBB}" destId="{85A8B10D-3671-411B-AA05-13FA6C890321}" srcOrd="1" destOrd="0" parTransId="{A1177452-D7A6-47F7-BEDA-D46D98E4FC25}" sibTransId="{0A676D62-F21F-4021-B120-C1FE511E7E54}"/>
    <dgm:cxn modelId="{DFF89FDB-1C55-4641-AA90-DEFCD472AE2E}" type="presOf" srcId="{F13207E7-1B92-462D-BADF-B658C2A950C7}" destId="{C89E19DA-7D48-4778-A77C-5812090A3463}" srcOrd="0" destOrd="0" presId="urn:microsoft.com/office/officeart/2018/2/layout/IconVerticalSolidList"/>
    <dgm:cxn modelId="{079CA32A-3D25-42F2-B01D-D47E342D2B74}" type="presParOf" srcId="{9308C0A7-2169-48A7-8F26-ADB73694DD11}" destId="{5DD1C7AC-0468-4A25-BD77-B3B6FE2E22D7}" srcOrd="0" destOrd="0" presId="urn:microsoft.com/office/officeart/2018/2/layout/IconVerticalSolidList"/>
    <dgm:cxn modelId="{F23C21CB-7291-4A51-B3BC-EAA51BAA27FB}" type="presParOf" srcId="{5DD1C7AC-0468-4A25-BD77-B3B6FE2E22D7}" destId="{A3D9CE6E-E484-4E9B-B68E-C7DF3FCA3F6B}" srcOrd="0" destOrd="0" presId="urn:microsoft.com/office/officeart/2018/2/layout/IconVerticalSolidList"/>
    <dgm:cxn modelId="{5806B696-14F1-48F8-B879-D18A219A5967}" type="presParOf" srcId="{5DD1C7AC-0468-4A25-BD77-B3B6FE2E22D7}" destId="{F140C23A-BC48-48E9-B932-0FCF40FDA3A3}" srcOrd="1" destOrd="0" presId="urn:microsoft.com/office/officeart/2018/2/layout/IconVerticalSolidList"/>
    <dgm:cxn modelId="{FE470434-DF51-4D1E-97BF-F3A1A36C51B0}" type="presParOf" srcId="{5DD1C7AC-0468-4A25-BD77-B3B6FE2E22D7}" destId="{D8A2F772-E1E1-4778-87A5-2AF261E842E6}" srcOrd="2" destOrd="0" presId="urn:microsoft.com/office/officeart/2018/2/layout/IconVerticalSolidList"/>
    <dgm:cxn modelId="{E04FC819-C7C3-4B54-B32F-6D2C6B6E4BB2}" type="presParOf" srcId="{5DD1C7AC-0468-4A25-BD77-B3B6FE2E22D7}" destId="{C89E19DA-7D48-4778-A77C-5812090A3463}" srcOrd="3" destOrd="0" presId="urn:microsoft.com/office/officeart/2018/2/layout/IconVerticalSolidList"/>
    <dgm:cxn modelId="{94646F9F-D1FC-4BC0-96F7-B52B3EFDC94A}" type="presParOf" srcId="{9308C0A7-2169-48A7-8F26-ADB73694DD11}" destId="{8FD6426A-3066-4544-ABFC-8FE161FD9C63}" srcOrd="1" destOrd="0" presId="urn:microsoft.com/office/officeart/2018/2/layout/IconVerticalSolidList"/>
    <dgm:cxn modelId="{AB768AF4-CFD5-451B-9DAE-6D2D0112FC39}" type="presParOf" srcId="{9308C0A7-2169-48A7-8F26-ADB73694DD11}" destId="{DFB4BCBE-BD1C-49EE-AD4E-98F12E9EE717}" srcOrd="2" destOrd="0" presId="urn:microsoft.com/office/officeart/2018/2/layout/IconVerticalSolidList"/>
    <dgm:cxn modelId="{2B89B95A-4485-49B4-911E-EC403CA9E3D7}" type="presParOf" srcId="{DFB4BCBE-BD1C-49EE-AD4E-98F12E9EE717}" destId="{A2E5F156-BC8B-48C5-93DB-00C15F8C09FB}" srcOrd="0" destOrd="0" presId="urn:microsoft.com/office/officeart/2018/2/layout/IconVerticalSolidList"/>
    <dgm:cxn modelId="{B3191CFE-566F-4921-920D-BD976E431FED}" type="presParOf" srcId="{DFB4BCBE-BD1C-49EE-AD4E-98F12E9EE717}" destId="{882EF336-167F-40AA-8B02-447663947767}" srcOrd="1" destOrd="0" presId="urn:microsoft.com/office/officeart/2018/2/layout/IconVerticalSolidList"/>
    <dgm:cxn modelId="{75CB346B-4CAC-46E0-BDC4-D1616F8B49E8}" type="presParOf" srcId="{DFB4BCBE-BD1C-49EE-AD4E-98F12E9EE717}" destId="{BBF7C419-8188-4855-BAAD-92568F534309}" srcOrd="2" destOrd="0" presId="urn:microsoft.com/office/officeart/2018/2/layout/IconVerticalSolidList"/>
    <dgm:cxn modelId="{87AFD3C3-51E2-4908-BDC6-3436DC4F4EDC}" type="presParOf" srcId="{DFB4BCBE-BD1C-49EE-AD4E-98F12E9EE717}" destId="{74219852-E43D-4D02-9E56-C1D85CC15065}" srcOrd="3" destOrd="0" presId="urn:microsoft.com/office/officeart/2018/2/layout/IconVerticalSolidList"/>
    <dgm:cxn modelId="{51334B68-C416-4E81-BAA5-CA43CD8F7D5E}" type="presParOf" srcId="{9308C0A7-2169-48A7-8F26-ADB73694DD11}" destId="{CD121D04-DC16-4033-ACE6-06E2A4B23B19}" srcOrd="3" destOrd="0" presId="urn:microsoft.com/office/officeart/2018/2/layout/IconVerticalSolidList"/>
    <dgm:cxn modelId="{47483EB3-3F29-4414-B58A-C84747008595}" type="presParOf" srcId="{9308C0A7-2169-48A7-8F26-ADB73694DD11}" destId="{BC3F68FA-CA70-4E4F-827B-091B93CDF6E9}" srcOrd="4" destOrd="0" presId="urn:microsoft.com/office/officeart/2018/2/layout/IconVerticalSolidList"/>
    <dgm:cxn modelId="{0998AA69-D332-4E8B-A201-C8488DF27594}" type="presParOf" srcId="{BC3F68FA-CA70-4E4F-827B-091B93CDF6E9}" destId="{24E456F1-53DF-4BCC-BC73-59589AF63252}" srcOrd="0" destOrd="0" presId="urn:microsoft.com/office/officeart/2018/2/layout/IconVerticalSolidList"/>
    <dgm:cxn modelId="{E55F0B31-068E-4DF0-8395-311F6B7C774E}" type="presParOf" srcId="{BC3F68FA-CA70-4E4F-827B-091B93CDF6E9}" destId="{62C709E3-BBDA-4BEA-AF58-58024E18D88A}" srcOrd="1" destOrd="0" presId="urn:microsoft.com/office/officeart/2018/2/layout/IconVerticalSolidList"/>
    <dgm:cxn modelId="{423995DB-0F72-478E-829B-B0EAA009781F}" type="presParOf" srcId="{BC3F68FA-CA70-4E4F-827B-091B93CDF6E9}" destId="{1E9B2CA6-4DEA-4EEA-951E-9BD26F8BD61F}" srcOrd="2" destOrd="0" presId="urn:microsoft.com/office/officeart/2018/2/layout/IconVerticalSolidList"/>
    <dgm:cxn modelId="{EDEB852A-131A-490C-9539-5FB0F759E89B}" type="presParOf" srcId="{BC3F68FA-CA70-4E4F-827B-091B93CDF6E9}" destId="{15D42111-45CF-4512-BA4A-6FA71AAC814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9CE6E-E484-4E9B-B68E-C7DF3FCA3F6B}">
      <dsp:nvSpPr>
        <dsp:cNvPr id="0" name=""/>
        <dsp:cNvSpPr/>
      </dsp:nvSpPr>
      <dsp:spPr>
        <a:xfrm>
          <a:off x="0" y="565"/>
          <a:ext cx="5924550" cy="132229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40C23A-BC48-48E9-B932-0FCF40FDA3A3}">
      <dsp:nvSpPr>
        <dsp:cNvPr id="0" name=""/>
        <dsp:cNvSpPr/>
      </dsp:nvSpPr>
      <dsp:spPr>
        <a:xfrm>
          <a:off x="399993" y="298080"/>
          <a:ext cx="727260" cy="7272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9E19DA-7D48-4778-A77C-5812090A3463}">
      <dsp:nvSpPr>
        <dsp:cNvPr id="0" name=""/>
        <dsp:cNvSpPr/>
      </dsp:nvSpPr>
      <dsp:spPr>
        <a:xfrm>
          <a:off x="1527246" y="565"/>
          <a:ext cx="4397303"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933450">
            <a:lnSpc>
              <a:spcPct val="90000"/>
            </a:lnSpc>
            <a:spcBef>
              <a:spcPct val="0"/>
            </a:spcBef>
            <a:spcAft>
              <a:spcPct val="35000"/>
            </a:spcAft>
            <a:buNone/>
          </a:pPr>
          <a:r>
            <a:rPr lang="en-US" sz="2100" kern="1200"/>
            <a:t>Board shall reliably take in voice input of any kind.</a:t>
          </a:r>
        </a:p>
      </dsp:txBody>
      <dsp:txXfrm>
        <a:off x="1527246" y="565"/>
        <a:ext cx="4397303" cy="1322291"/>
      </dsp:txXfrm>
    </dsp:sp>
    <dsp:sp modelId="{A2E5F156-BC8B-48C5-93DB-00C15F8C09FB}">
      <dsp:nvSpPr>
        <dsp:cNvPr id="0" name=""/>
        <dsp:cNvSpPr/>
      </dsp:nvSpPr>
      <dsp:spPr>
        <a:xfrm>
          <a:off x="0" y="1653429"/>
          <a:ext cx="5924550" cy="132229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2EF336-167F-40AA-8B02-447663947767}">
      <dsp:nvSpPr>
        <dsp:cNvPr id="0" name=""/>
        <dsp:cNvSpPr/>
      </dsp:nvSpPr>
      <dsp:spPr>
        <a:xfrm>
          <a:off x="399993" y="1950944"/>
          <a:ext cx="727260" cy="7272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219852-E43D-4D02-9E56-C1D85CC15065}">
      <dsp:nvSpPr>
        <dsp:cNvPr id="0" name=""/>
        <dsp:cNvSpPr/>
      </dsp:nvSpPr>
      <dsp:spPr>
        <a:xfrm>
          <a:off x="1527246" y="1653429"/>
          <a:ext cx="4397303"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933450">
            <a:lnSpc>
              <a:spcPct val="90000"/>
            </a:lnSpc>
            <a:spcBef>
              <a:spcPct val="0"/>
            </a:spcBef>
            <a:spcAft>
              <a:spcPct val="35000"/>
            </a:spcAft>
            <a:buNone/>
          </a:pPr>
          <a:r>
            <a:rPr lang="en-US" sz="2100" kern="1200"/>
            <a:t>Board shall be able to consistently and precisely move chess pieces autonomously.</a:t>
          </a:r>
        </a:p>
      </dsp:txBody>
      <dsp:txXfrm>
        <a:off x="1527246" y="1653429"/>
        <a:ext cx="4397303" cy="1322291"/>
      </dsp:txXfrm>
    </dsp:sp>
    <dsp:sp modelId="{24E456F1-53DF-4BCC-BC73-59589AF63252}">
      <dsp:nvSpPr>
        <dsp:cNvPr id="0" name=""/>
        <dsp:cNvSpPr/>
      </dsp:nvSpPr>
      <dsp:spPr>
        <a:xfrm>
          <a:off x="0" y="3306293"/>
          <a:ext cx="5924550" cy="132229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C709E3-BBDA-4BEA-AF58-58024E18D88A}">
      <dsp:nvSpPr>
        <dsp:cNvPr id="0" name=""/>
        <dsp:cNvSpPr/>
      </dsp:nvSpPr>
      <dsp:spPr>
        <a:xfrm>
          <a:off x="399993" y="3603809"/>
          <a:ext cx="727260" cy="7272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D42111-45CF-4512-BA4A-6FA71AAC8144}">
      <dsp:nvSpPr>
        <dsp:cNvPr id="0" name=""/>
        <dsp:cNvSpPr/>
      </dsp:nvSpPr>
      <dsp:spPr>
        <a:xfrm>
          <a:off x="1527246" y="3306293"/>
          <a:ext cx="4397303"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933450">
            <a:lnSpc>
              <a:spcPct val="90000"/>
            </a:lnSpc>
            <a:spcBef>
              <a:spcPct val="0"/>
            </a:spcBef>
            <a:spcAft>
              <a:spcPct val="35000"/>
            </a:spcAft>
            <a:buNone/>
          </a:pPr>
          <a:r>
            <a:rPr lang="en-US" sz="2100" kern="1200"/>
            <a:t>Board shall be cheaper than existing commercial solutions (~$500).</a:t>
          </a:r>
        </a:p>
      </dsp:txBody>
      <dsp:txXfrm>
        <a:off x="1527246" y="3306293"/>
        <a:ext cx="4397303" cy="132229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C4C902-98E1-4AAD-94A2-33E4FA680C0C}"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C764E-B103-4719-B1AC-10D7906EF19A}" type="slidenum">
              <a:rPr lang="en-US" smtClean="0"/>
              <a:t>‹#›</a:t>
            </a:fld>
            <a:endParaRPr lang="en-US"/>
          </a:p>
        </p:txBody>
      </p:sp>
    </p:spTree>
    <p:extLst>
      <p:ext uri="{BB962C8B-B14F-4D97-AF65-F5344CB8AC3E}">
        <p14:creationId xmlns:p14="http://schemas.microsoft.com/office/powerpoint/2010/main" val="2333600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35C764E-B103-4719-B1AC-10D7906EF19A}" type="slidenum">
              <a:rPr lang="en-US" smtClean="0"/>
              <a:t>3</a:t>
            </a:fld>
            <a:endParaRPr lang="en-US"/>
          </a:p>
        </p:txBody>
      </p:sp>
    </p:spTree>
    <p:extLst>
      <p:ext uri="{BB962C8B-B14F-4D97-AF65-F5344CB8AC3E}">
        <p14:creationId xmlns:p14="http://schemas.microsoft.com/office/powerpoint/2010/main" val="2392306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a:t>Processing Unit: </a:t>
            </a:r>
            <a:r>
              <a:rPr lang="en-US"/>
              <a:t>Handles all chess logic. Uses </a:t>
            </a:r>
            <a:r>
              <a:rPr lang="en-US" err="1"/>
              <a:t>Vosk</a:t>
            </a:r>
            <a:r>
              <a:rPr lang="en-US"/>
              <a:t> for speech recognition and Stockfish for AI. Receives audio from the microphone, provides feedback to the display, and sends validated moves to the Control Unit.</a:t>
            </a:r>
          </a:p>
          <a:p>
            <a:pPr marL="171450" indent="-171450">
              <a:buFontTx/>
              <a:buChar char="-"/>
            </a:pPr>
            <a:r>
              <a:rPr lang="en-US" sz="1200"/>
              <a:t>Control Unit: </a:t>
            </a:r>
            <a:r>
              <a:rPr lang="en-US"/>
              <a:t>Executes piece movement. Translates move commands into motor instructions and drives the stepper motors to position the Core XY system accurately, reducing load on the Processing Unit.</a:t>
            </a:r>
          </a:p>
          <a:p>
            <a:pPr marL="171450" indent="-171450">
              <a:buFontTx/>
              <a:buChar char="-"/>
            </a:pPr>
            <a:r>
              <a:rPr lang="en-US" sz="1200"/>
              <a:t>Core XY Unit: </a:t>
            </a:r>
            <a:r>
              <a:rPr lang="en-US"/>
              <a:t>A stepper-motor–driven motion system similar to a 3D printer. Moves a magnetic mechanism under the board using pulleys to pick up, slide, and place chess pieces.</a:t>
            </a:r>
          </a:p>
          <a:p>
            <a:pPr marL="171450" indent="-171450">
              <a:buFontTx/>
              <a:buChar char="-"/>
            </a:pPr>
            <a:r>
              <a:rPr lang="en-US" sz="1200"/>
              <a:t>Peripheral Unit: The board will need to be big enough that the pieces can slide in between the other pieces when moving. The pieces will have a metal washer so that the magnet can connect to them. The input from the microphone will go to the Processing unit and the messages for the display will come from the same place.</a:t>
            </a:r>
          </a:p>
          <a:p>
            <a:r>
              <a:rPr lang="en-US" sz="1200"/>
              <a:t>-   Power Unit: </a:t>
            </a:r>
            <a:r>
              <a:rPr lang="en-US"/>
              <a:t>Battery-powered to allow portable operation. Provides two power rails: 5V and 12V for motors and electronics.</a:t>
            </a:r>
          </a:p>
        </p:txBody>
      </p:sp>
      <p:sp>
        <p:nvSpPr>
          <p:cNvPr id="4" name="Slide Number Placeholder 3"/>
          <p:cNvSpPr>
            <a:spLocks noGrp="1"/>
          </p:cNvSpPr>
          <p:nvPr>
            <p:ph type="sldNum" sz="quarter" idx="5"/>
          </p:nvPr>
        </p:nvSpPr>
        <p:spPr/>
        <p:txBody>
          <a:bodyPr/>
          <a:lstStyle/>
          <a:p>
            <a:fld id="{535C764E-B103-4719-B1AC-10D7906EF19A}" type="slidenum">
              <a:rPr lang="en-US" smtClean="0"/>
              <a:t>9</a:t>
            </a:fld>
            <a:endParaRPr lang="en-US"/>
          </a:p>
        </p:txBody>
      </p:sp>
    </p:spTree>
    <p:extLst>
      <p:ext uri="{BB962C8B-B14F-4D97-AF65-F5344CB8AC3E}">
        <p14:creationId xmlns:p14="http://schemas.microsoft.com/office/powerpoint/2010/main" val="4227440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a:t>-   </a:t>
            </a:r>
            <a:r>
              <a:rPr lang="en-US" b="1" err="1"/>
              <a:t>Vosk</a:t>
            </a:r>
            <a:r>
              <a:rPr lang="en-US"/>
              <a:t> is used for on-device speech recognition and should get 80% accuracy (supports chess-specific grammar and wake word)</a:t>
            </a:r>
          </a:p>
          <a:p>
            <a:pPr marL="171450" indent="-171450">
              <a:buFontTx/>
              <a:buChar char="-"/>
            </a:pPr>
            <a:r>
              <a:rPr lang="en-US" b="1" err="1"/>
              <a:t>PyChess</a:t>
            </a:r>
            <a:r>
              <a:rPr lang="en-US"/>
              <a:t> validates moves, maintains board state, and enforces rules</a:t>
            </a:r>
          </a:p>
          <a:p>
            <a:pPr marL="171450" indent="-171450">
              <a:buFontTx/>
              <a:buChar char="-"/>
            </a:pPr>
            <a:r>
              <a:rPr lang="en-US" b="1"/>
              <a:t>Stockfish</a:t>
            </a:r>
            <a:r>
              <a:rPr lang="en-US"/>
              <a:t> produces AI moves in “single-player mode”</a:t>
            </a:r>
          </a:p>
          <a:p>
            <a:pPr marL="0" indent="0">
              <a:buFontTx/>
              <a:buNone/>
            </a:pPr>
            <a:r>
              <a:rPr lang="en-US"/>
              <a:t>-   These three software and the high processing power of the Pi 5 should allow for a move to be validated and processed within 5 seconds</a:t>
            </a:r>
          </a:p>
          <a:p>
            <a:pPr marL="0" indent="0">
              <a:buFontTx/>
              <a:buNone/>
            </a:pPr>
            <a:r>
              <a:rPr lang="en-US"/>
              <a:t>-   All code written in </a:t>
            </a:r>
            <a:r>
              <a:rPr lang="en-US" b="1"/>
              <a:t>Python</a:t>
            </a:r>
            <a:r>
              <a:rPr lang="en-US"/>
              <a:t> (</a:t>
            </a:r>
            <a:r>
              <a:rPr lang="en-US" err="1"/>
              <a:t>Vosk</a:t>
            </a:r>
            <a:r>
              <a:rPr lang="en-US"/>
              <a:t>, </a:t>
            </a:r>
            <a:r>
              <a:rPr lang="en-US" err="1"/>
              <a:t>PyChess</a:t>
            </a:r>
            <a:r>
              <a:rPr lang="en-US"/>
              <a:t>, Stockfish bindings, and display libraries are all Python-compatible)</a:t>
            </a:r>
          </a:p>
          <a:p>
            <a:r>
              <a:rPr lang="en-US"/>
              <a:t>-   Pi keeps full digital board representation and determines captures, promotions, and multi-piece sequences</a:t>
            </a:r>
          </a:p>
          <a:p>
            <a:pPr marL="0" indent="0">
              <a:buFontTx/>
              <a:buNone/>
            </a:pPr>
            <a:r>
              <a:rPr lang="en-US"/>
              <a:t>-   For captures or special cases (like castling), Pi sends </a:t>
            </a:r>
            <a:r>
              <a:rPr lang="en-US" b="1"/>
              <a:t>multiple sequential movement instructions</a:t>
            </a:r>
            <a:r>
              <a:rPr lang="en-US"/>
              <a:t> to the microcontroller</a:t>
            </a:r>
          </a:p>
          <a:p>
            <a:r>
              <a:rPr lang="en-US" b="1"/>
              <a:t>-   Microphone</a:t>
            </a:r>
            <a:r>
              <a:rPr lang="en-US"/>
              <a:t> communicates over USB and streams PCM audio into </a:t>
            </a:r>
            <a:r>
              <a:rPr lang="en-US" err="1"/>
              <a:t>Vosk</a:t>
            </a:r>
            <a:endParaRPr lang="en-US"/>
          </a:p>
          <a:p>
            <a:r>
              <a:rPr lang="en-US" b="1"/>
              <a:t>-   LCD display</a:t>
            </a:r>
            <a:r>
              <a:rPr lang="en-US"/>
              <a:t> connects via </a:t>
            </a:r>
            <a:r>
              <a:rPr lang="en-US" b="1"/>
              <a:t>SPI</a:t>
            </a:r>
            <a:r>
              <a:rPr lang="en-US"/>
              <a:t> on the Pi’s GPIO header and uses framebuffers to send display data (ribbon cable relocates it for mounting convenience)</a:t>
            </a:r>
          </a:p>
          <a:p>
            <a:r>
              <a:rPr lang="en-US"/>
              <a:t>-   </a:t>
            </a:r>
            <a:r>
              <a:rPr lang="en-US" b="0"/>
              <a:t>LCD</a:t>
            </a:r>
            <a:r>
              <a:rPr lang="en-US"/>
              <a:t> updates occur within </a:t>
            </a:r>
            <a:r>
              <a:rPr lang="en-US" b="1"/>
              <a:t>1 second </a:t>
            </a:r>
            <a:r>
              <a:rPr lang="en-US"/>
              <a:t>to confirm commands, errors, or game status</a:t>
            </a:r>
          </a:p>
          <a:p>
            <a:pPr marL="0" indent="0">
              <a:buFontTx/>
              <a:buNone/>
            </a:pPr>
            <a:r>
              <a:rPr lang="en-US"/>
              <a:t>-   Pi to microcontroller requires </a:t>
            </a:r>
            <a:r>
              <a:rPr lang="en-US" b="1"/>
              <a:t>bi-directional logic level shifter</a:t>
            </a:r>
            <a:r>
              <a:rPr lang="en-US"/>
              <a:t> for safe UART communication (5V feedback from microcontroller would damage Pi)</a:t>
            </a:r>
          </a:p>
          <a:p>
            <a:pPr marL="171450" indent="-171450">
              <a:buFontTx/>
              <a:buChar char="-"/>
            </a:pPr>
            <a:r>
              <a:rPr lang="en-US"/>
              <a:t>Pi does not go over 5V which complies with the 40V max and has a fan to handle possible heat issues</a:t>
            </a:r>
          </a:p>
          <a:p>
            <a:pPr marL="0" indent="0">
              <a:buFontTx/>
              <a:buNone/>
            </a:pPr>
            <a:endParaRPr lang="en-US"/>
          </a:p>
          <a:p>
            <a:pPr marL="0" indent="0">
              <a:buFontTx/>
              <a:buNone/>
            </a:pPr>
            <a:r>
              <a:rPr lang="en-US"/>
              <a:t>----Original Slide----</a:t>
            </a:r>
          </a:p>
          <a:p>
            <a:pPr marL="0" indent="0">
              <a:buFontTx/>
              <a:buNone/>
            </a:pPr>
            <a:r>
              <a:rPr lang="en-US"/>
              <a:t>Processing Unit:</a:t>
            </a:r>
          </a:p>
          <a:p>
            <a:pPr marL="0" indent="0">
              <a:buFontTx/>
              <a:buNone/>
            </a:pPr>
            <a:r>
              <a:rPr lang="en-US"/>
              <a:t>Runs three major software components: </a:t>
            </a:r>
            <a:r>
              <a:rPr lang="en-US" err="1"/>
              <a:t>Vosk</a:t>
            </a:r>
            <a:r>
              <a:rPr lang="en-US"/>
              <a:t> (speech-to-text), </a:t>
            </a:r>
            <a:r>
              <a:rPr lang="en-US" err="1"/>
              <a:t>PyChess</a:t>
            </a:r>
            <a:r>
              <a:rPr lang="en-US"/>
              <a:t> (move validation), and Stockfish (AI)</a:t>
            </a:r>
          </a:p>
          <a:p>
            <a:pPr marL="0" indent="0">
              <a:buFontTx/>
              <a:buNone/>
            </a:pPr>
            <a:r>
              <a:rPr lang="en-US"/>
              <a:t>Interfaces with microphone (USB), LCD display (SPI), and microcontroller (UART)</a:t>
            </a:r>
          </a:p>
          <a:p>
            <a:pPr marL="0" indent="0">
              <a:buFontTx/>
              <a:buNone/>
            </a:pPr>
            <a:r>
              <a:rPr lang="en-US"/>
              <a:t>Maintains full board state and validates move commands</a:t>
            </a:r>
          </a:p>
          <a:p>
            <a:pPr marL="0" indent="0">
              <a:buFontTx/>
              <a:buNone/>
            </a:pPr>
            <a:r>
              <a:rPr lang="en-US"/>
              <a:t>Uses logic-level conversion for safe UART signaling between 3.3V Pi and 5V Nano</a:t>
            </a:r>
          </a:p>
          <a:p>
            <a:pPr marL="0" indent="0">
              <a:buFontTx/>
              <a:buNone/>
            </a:pPr>
            <a:r>
              <a:rPr lang="en-US"/>
              <a:t>Powers the microcontroller via 5V USB and supplies power to display and microphone</a:t>
            </a:r>
          </a:p>
          <a:p>
            <a:pPr marL="0" indent="0">
              <a:buFontTx/>
              <a:buNone/>
            </a:pPr>
            <a:r>
              <a:rPr lang="en-US"/>
              <a:t>Has an attachable fan to reduce possible heating issues.</a:t>
            </a:r>
          </a:p>
          <a:p>
            <a:pPr marL="0" indent="0">
              <a:buFontTx/>
              <a:buNone/>
            </a:pPr>
            <a:endParaRPr lang="en-US"/>
          </a:p>
        </p:txBody>
      </p:sp>
      <p:sp>
        <p:nvSpPr>
          <p:cNvPr id="4" name="Slide Number Placeholder 3"/>
          <p:cNvSpPr>
            <a:spLocks noGrp="1"/>
          </p:cNvSpPr>
          <p:nvPr>
            <p:ph type="sldNum" sz="quarter" idx="5"/>
          </p:nvPr>
        </p:nvSpPr>
        <p:spPr/>
        <p:txBody>
          <a:bodyPr/>
          <a:lstStyle/>
          <a:p>
            <a:fld id="{535C764E-B103-4719-B1AC-10D7906EF19A}" type="slidenum">
              <a:rPr lang="en-US" smtClean="0"/>
              <a:t>12</a:t>
            </a:fld>
            <a:endParaRPr lang="en-US"/>
          </a:p>
        </p:txBody>
      </p:sp>
    </p:spTree>
    <p:extLst>
      <p:ext uri="{BB962C8B-B14F-4D97-AF65-F5344CB8AC3E}">
        <p14:creationId xmlns:p14="http://schemas.microsoft.com/office/powerpoint/2010/main" val="37605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8F046-1C5A-8019-C453-41642397A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7522C-EF5B-F716-3821-7F0E4DA9A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48FCD2-0BD2-DD80-FDFC-A2941F4BF272}"/>
              </a:ext>
            </a:extLst>
          </p:cNvPr>
          <p:cNvSpPr>
            <a:spLocks noGrp="1"/>
          </p:cNvSpPr>
          <p:nvPr>
            <p:ph type="body" idx="1"/>
          </p:nvPr>
        </p:nvSpPr>
        <p:spPr/>
        <p:txBody>
          <a:bodyPr/>
          <a:lstStyle/>
          <a:p>
            <a:pPr marL="171450" indent="-171450">
              <a:buFontTx/>
              <a:buChar char="-"/>
            </a:pPr>
            <a:r>
              <a:rPr lang="en-US" b="1"/>
              <a:t>…..</a:t>
            </a:r>
          </a:p>
          <a:p>
            <a:pPr marL="171450" indent="-171450">
              <a:buFontTx/>
              <a:buChar char="-"/>
            </a:pPr>
            <a:r>
              <a:rPr lang="en-US" b="1"/>
              <a:t>Move directions </a:t>
            </a:r>
            <a:r>
              <a:rPr lang="en-US" b="0"/>
              <a:t>include straight, diagonal, knight, and “castling”</a:t>
            </a:r>
            <a:endParaRPr lang="en-US" b="1"/>
          </a:p>
          <a:p>
            <a:pPr marL="171450" indent="-171450">
              <a:buFontTx/>
              <a:buChar char="-"/>
            </a:pPr>
            <a:endParaRPr lang="en-US"/>
          </a:p>
          <a:p>
            <a:pPr marL="171450" indent="-171450">
              <a:buFontTx/>
              <a:buChar char="-"/>
            </a:pPr>
            <a:r>
              <a:rPr lang="en-US"/>
              <a:t>specification of </a:t>
            </a:r>
            <a:r>
              <a:rPr lang="en-US" b="1"/>
              <a:t>±0.5 mm accuracy</a:t>
            </a:r>
            <a:r>
              <a:rPr lang="en-US" b="0"/>
              <a:t> and </a:t>
            </a:r>
            <a:r>
              <a:rPr lang="en-US" b="1"/>
              <a:t>5 second movement</a:t>
            </a:r>
          </a:p>
          <a:p>
            <a:pPr marL="171450" indent="-171450">
              <a:buFontTx/>
              <a:buChar char="-"/>
            </a:pPr>
            <a:r>
              <a:rPr lang="en-US" b="1"/>
              <a:t>Heatsink</a:t>
            </a:r>
            <a:r>
              <a:rPr lang="en-US"/>
              <a:t> added to each driver board to address temperature constraints</a:t>
            </a:r>
          </a:p>
          <a:p>
            <a:pPr marL="171450" indent="-171450">
              <a:buFontTx/>
              <a:buChar char="-"/>
            </a:pPr>
            <a:r>
              <a:rPr lang="en-US"/>
              <a:t>Each driver board sends </a:t>
            </a:r>
            <a:r>
              <a:rPr lang="en-US" b="1"/>
              <a:t>move complete</a:t>
            </a:r>
            <a:r>
              <a:rPr lang="en-US" b="0"/>
              <a:t> signal back to Nano for error handling</a:t>
            </a:r>
            <a:endParaRPr lang="en-US" b="1"/>
          </a:p>
          <a:p>
            <a:pPr marL="171450" indent="-171450">
              <a:buFontTx/>
              <a:buChar char="-"/>
            </a:pPr>
            <a:endParaRPr lang="en-US" b="1"/>
          </a:p>
          <a:p>
            <a:pPr marL="171450" indent="-171450">
              <a:buFontTx/>
              <a:buChar char="-"/>
            </a:pPr>
            <a:r>
              <a:rPr lang="en-US" b="1"/>
              <a:t>Flyback diode</a:t>
            </a:r>
            <a:r>
              <a:rPr lang="en-US"/>
              <a:t> across the coil protects the system from voltage spikes when the magnet turns off (electrical safety constraints)</a:t>
            </a:r>
          </a:p>
          <a:p>
            <a:pPr marL="171450" indent="-171450">
              <a:buFontTx/>
              <a:buChar char="-"/>
            </a:pPr>
            <a:r>
              <a:rPr lang="en-US" b="1"/>
              <a:t>Gate pulldown resistor</a:t>
            </a:r>
            <a:r>
              <a:rPr lang="en-US"/>
              <a:t> ensures the magnet stays off during resets (electrical safety constraints)</a:t>
            </a:r>
          </a:p>
          <a:p>
            <a:pPr marL="171450" indent="-171450">
              <a:buFontTx/>
              <a:buChar char="-"/>
            </a:pPr>
            <a:r>
              <a:rPr lang="en-US" b="1"/>
              <a:t>Gate resistor</a:t>
            </a:r>
            <a:r>
              <a:rPr lang="en-US"/>
              <a:t> reduces oscillations in gate voltage switching and protects the Nano’s output pin (electrical safety constraints)</a:t>
            </a:r>
          </a:p>
          <a:p>
            <a:pPr marL="0" indent="0">
              <a:buFontTx/>
              <a:buNone/>
            </a:pPr>
            <a:endParaRPr lang="en-US" b="1"/>
          </a:p>
          <a:p>
            <a:pPr marL="0" indent="0">
              <a:buFontTx/>
              <a:buNone/>
            </a:pPr>
            <a:r>
              <a:rPr lang="en-US" b="1"/>
              <a:t>----</a:t>
            </a:r>
            <a:r>
              <a:rPr lang="en-US" b="0"/>
              <a:t>Original Slide----</a:t>
            </a:r>
          </a:p>
          <a:p>
            <a:pPr marL="0" indent="0">
              <a:buFontTx/>
              <a:buNone/>
            </a:pPr>
            <a:r>
              <a:rPr lang="en-US"/>
              <a:t>Control Unit:</a:t>
            </a:r>
          </a:p>
          <a:p>
            <a:pPr marL="0" indent="0">
              <a:buFontTx/>
              <a:buNone/>
            </a:pPr>
            <a:r>
              <a:rPr lang="en-US"/>
              <a:t>Arduino Nano receives source square and destination square data over UART from Raspberry Pi 5</a:t>
            </a:r>
          </a:p>
          <a:p>
            <a:pPr marL="0" indent="0">
              <a:buFontTx/>
              <a:buNone/>
            </a:pPr>
            <a:r>
              <a:rPr lang="en-US"/>
              <a:t>Nano makes decision on move direction and type, using an edge-prioritized movement pattern</a:t>
            </a:r>
          </a:p>
          <a:p>
            <a:pPr marL="0" indent="0">
              <a:buFontTx/>
              <a:buNone/>
            </a:pPr>
            <a:r>
              <a:rPr lang="en-US"/>
              <a:t>Nano sends STEP/DIR move commands to both TMC2209 driver boards</a:t>
            </a:r>
          </a:p>
          <a:p>
            <a:pPr marL="0" indent="0">
              <a:buFontTx/>
              <a:buNone/>
            </a:pPr>
            <a:r>
              <a:rPr lang="en-US"/>
              <a:t>Electromagnet circuit completed and controlled through MOSFET (flyback diode, gate resistor, and pulldown resistor include for safety)</a:t>
            </a:r>
          </a:p>
        </p:txBody>
      </p:sp>
      <p:sp>
        <p:nvSpPr>
          <p:cNvPr id="4" name="Slide Number Placeholder 3">
            <a:extLst>
              <a:ext uri="{FF2B5EF4-FFF2-40B4-BE49-F238E27FC236}">
                <a16:creationId xmlns:a16="http://schemas.microsoft.com/office/drawing/2014/main" id="{12CE2937-1B77-40DD-E894-3C56A4EE29D3}"/>
              </a:ext>
            </a:extLst>
          </p:cNvPr>
          <p:cNvSpPr>
            <a:spLocks noGrp="1"/>
          </p:cNvSpPr>
          <p:nvPr>
            <p:ph type="sldNum" sz="quarter" idx="5"/>
          </p:nvPr>
        </p:nvSpPr>
        <p:spPr/>
        <p:txBody>
          <a:bodyPr/>
          <a:lstStyle/>
          <a:p>
            <a:fld id="{535C764E-B103-4719-B1AC-10D7906EF19A}" type="slidenum">
              <a:rPr lang="en-US" smtClean="0"/>
              <a:t>14</a:t>
            </a:fld>
            <a:endParaRPr lang="en-US"/>
          </a:p>
        </p:txBody>
      </p:sp>
    </p:spTree>
    <p:extLst>
      <p:ext uri="{BB962C8B-B14F-4D97-AF65-F5344CB8AC3E}">
        <p14:creationId xmlns:p14="http://schemas.microsoft.com/office/powerpoint/2010/main" val="3831719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0658D-64C3-5D99-C33C-3B34DF3B6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FC9DD-47B9-AD69-3007-5337F94D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6AE58-6D80-3997-AE85-AF06A05D50B1}"/>
              </a:ext>
            </a:extLst>
          </p:cNvPr>
          <p:cNvSpPr>
            <a:spLocks noGrp="1"/>
          </p:cNvSpPr>
          <p:nvPr>
            <p:ph type="body" idx="1"/>
          </p:nvPr>
        </p:nvSpPr>
        <p:spPr/>
        <p:txBody>
          <a:bodyPr/>
          <a:lstStyle/>
          <a:p>
            <a:pPr marL="0" indent="0">
              <a:buFontTx/>
              <a:buNone/>
            </a:pPr>
            <a:r>
              <a:rPr lang="en-US"/>
              <a:t>My subsystem is the </a:t>
            </a:r>
            <a:r>
              <a:rPr lang="en-US" err="1"/>
              <a:t>CoreXY</a:t>
            </a:r>
            <a:r>
              <a:rPr lang="en-US"/>
              <a:t> which is a two-belt motion system similar to a 3D printer that moves an electromagnet to move the pieces. Each motor moves the electromagnet along a diagonal when turned individually. When they turn the same way the electromagnet moves along the x-axis, and when they turn the opposite of each other the electromagnet moves along the y-axis. The frame includes mounts for the control unit and the wiring. The control unit controls the motors through the stepper motor drivers and the electromagnet through the MOSFET circuit. Both of which are powered by the power supply unit.</a:t>
            </a:r>
          </a:p>
        </p:txBody>
      </p:sp>
      <p:sp>
        <p:nvSpPr>
          <p:cNvPr id="4" name="Slide Number Placeholder 3">
            <a:extLst>
              <a:ext uri="{FF2B5EF4-FFF2-40B4-BE49-F238E27FC236}">
                <a16:creationId xmlns:a16="http://schemas.microsoft.com/office/drawing/2014/main" id="{266AA2F7-61E9-A3CF-ECBC-8C826A72FDD6}"/>
              </a:ext>
            </a:extLst>
          </p:cNvPr>
          <p:cNvSpPr>
            <a:spLocks noGrp="1"/>
          </p:cNvSpPr>
          <p:nvPr>
            <p:ph type="sldNum" sz="quarter" idx="5"/>
          </p:nvPr>
        </p:nvSpPr>
        <p:spPr/>
        <p:txBody>
          <a:bodyPr/>
          <a:lstStyle/>
          <a:p>
            <a:fld id="{535C764E-B103-4719-B1AC-10D7906EF19A}" type="slidenum">
              <a:rPr lang="en-US" smtClean="0"/>
              <a:t>16</a:t>
            </a:fld>
            <a:endParaRPr lang="en-US"/>
          </a:p>
        </p:txBody>
      </p:sp>
    </p:spTree>
    <p:extLst>
      <p:ext uri="{BB962C8B-B14F-4D97-AF65-F5344CB8AC3E}">
        <p14:creationId xmlns:p14="http://schemas.microsoft.com/office/powerpoint/2010/main" val="3541291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positional constraints affected the mechanical setup of the </a:t>
            </a:r>
            <a:r>
              <a:rPr lang="en-US" err="1"/>
              <a:t>CoreXY</a:t>
            </a:r>
            <a:r>
              <a:rPr lang="en-US"/>
              <a:t>. The belt routing, belt tensioning, and frame stability were designed to minimize shaking in movement. The </a:t>
            </a:r>
            <a:r>
              <a:rPr lang="en-US" err="1"/>
              <a:t>CoreXY</a:t>
            </a:r>
            <a:r>
              <a:rPr lang="en-US"/>
              <a:t> was also constrained by the dimensions of the board. It had to be large enough to move the electromagnet to the center of every square in order to pick up the pieces, but small enough to fit in the board and allow space for the processing unit and power supply. With the motion of the electromagnet we also had to consider how to protect our wiring from any pinching. Most of the wires were routed away from the </a:t>
            </a:r>
            <a:r>
              <a:rPr lang="en-US" err="1"/>
              <a:t>CoreXY</a:t>
            </a:r>
            <a:r>
              <a:rPr lang="en-US"/>
              <a:t>, while the electromagnet leads were wrapped in a protective sleeve to keep them from being pinched on movements that brought the electromagnet close to the edges of the frame. </a:t>
            </a:r>
          </a:p>
        </p:txBody>
      </p:sp>
      <p:sp>
        <p:nvSpPr>
          <p:cNvPr id="4" name="Slide Number Placeholder 3"/>
          <p:cNvSpPr>
            <a:spLocks noGrp="1"/>
          </p:cNvSpPr>
          <p:nvPr>
            <p:ph type="sldNum" sz="quarter" idx="5"/>
          </p:nvPr>
        </p:nvSpPr>
        <p:spPr/>
        <p:txBody>
          <a:bodyPr/>
          <a:lstStyle/>
          <a:p>
            <a:fld id="{535C764E-B103-4719-B1AC-10D7906EF19A}" type="slidenum">
              <a:rPr lang="en-US" smtClean="0"/>
              <a:t>17</a:t>
            </a:fld>
            <a:endParaRPr lang="en-US"/>
          </a:p>
        </p:txBody>
      </p:sp>
    </p:spTree>
    <p:extLst>
      <p:ext uri="{BB962C8B-B14F-4D97-AF65-F5344CB8AC3E}">
        <p14:creationId xmlns:p14="http://schemas.microsoft.com/office/powerpoint/2010/main" val="3710649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162A1-E200-FAC0-EC9F-36D1CCD2B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9A868-5A43-3589-49D3-E1B996549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B3171-2691-A7D8-CF8D-71C5F8CA4DE6}"/>
              </a:ext>
            </a:extLst>
          </p:cNvPr>
          <p:cNvSpPr>
            <a:spLocks noGrp="1"/>
          </p:cNvSpPr>
          <p:nvPr>
            <p:ph type="body" idx="1"/>
          </p:nvPr>
        </p:nvSpPr>
        <p:spPr/>
        <p:txBody>
          <a:bodyPr/>
          <a:lstStyle/>
          <a:p>
            <a:pPr marL="171450" indent="-171450">
              <a:buFontTx/>
              <a:buChar char="-"/>
            </a:pPr>
            <a:r>
              <a:rPr lang="en-US" b="1"/>
              <a:t> …..</a:t>
            </a:r>
          </a:p>
          <a:p>
            <a:pPr marL="171450" indent="-171450">
              <a:buFontTx/>
              <a:buChar char="-"/>
            </a:pPr>
            <a:r>
              <a:rPr lang="en-US" b="1"/>
              <a:t>…..</a:t>
            </a:r>
          </a:p>
          <a:p>
            <a:pPr marL="171450" indent="-171450">
              <a:buFontTx/>
              <a:buChar char="-"/>
            </a:pPr>
            <a:r>
              <a:rPr lang="en-US" b="1"/>
              <a:t>…..</a:t>
            </a:r>
          </a:p>
          <a:p>
            <a:pPr marL="0" indent="0">
              <a:buFontTx/>
              <a:buNone/>
            </a:pPr>
            <a:endParaRPr lang="en-US" b="1"/>
          </a:p>
          <a:p>
            <a:pPr marL="0" indent="0">
              <a:buFontTx/>
              <a:buNone/>
            </a:pPr>
            <a:r>
              <a:rPr lang="en-US" b="1"/>
              <a:t>----</a:t>
            </a:r>
            <a:r>
              <a:rPr lang="en-US" b="0"/>
              <a:t>Original Slide----</a:t>
            </a:r>
          </a:p>
          <a:p>
            <a:pPr marL="0" indent="0">
              <a:buFontTx/>
              <a:buNone/>
            </a:pPr>
            <a:r>
              <a:rPr lang="en-US"/>
              <a:t>Peripheral:</a:t>
            </a:r>
          </a:p>
          <a:p>
            <a:pPr marL="0" indent="0">
              <a:buFontTx/>
              <a:buNone/>
            </a:pPr>
            <a:r>
              <a:rPr lang="en-US"/>
              <a:t>Uses 3.5” LCD display (SPI) and omnidirectional USB microphone for player interaction</a:t>
            </a:r>
          </a:p>
          <a:p>
            <a:pPr marL="0" indent="0">
              <a:buFontTx/>
              <a:buNone/>
            </a:pPr>
            <a:r>
              <a:rPr lang="en-US"/>
              <a:t>Houses the chessboard with 64 main squares and 32 storage squares for captured pieces</a:t>
            </a:r>
          </a:p>
          <a:p>
            <a:pPr marL="0" indent="0">
              <a:buFontTx/>
              <a:buNone/>
            </a:pPr>
            <a:r>
              <a:rPr lang="en-US"/>
              <a:t>Chess pieces contain embedded steel washers for magnetic manipulation by </a:t>
            </a:r>
            <a:r>
              <a:rPr lang="en-US" err="1"/>
              <a:t>CoreXY</a:t>
            </a:r>
            <a:endParaRPr lang="en-US"/>
          </a:p>
          <a:p>
            <a:pPr marL="0" indent="0">
              <a:buFontTx/>
              <a:buNone/>
            </a:pPr>
            <a:r>
              <a:rPr lang="en-US"/>
              <a:t>Interfaces with Processing Unit (Raspberry Pi 5) for voice input and visual feedback</a:t>
            </a:r>
          </a:p>
          <a:p>
            <a:pPr marL="0" indent="0">
              <a:buFontTx/>
              <a:buNone/>
            </a:pPr>
            <a:endParaRPr lang="en-US"/>
          </a:p>
        </p:txBody>
      </p:sp>
      <p:sp>
        <p:nvSpPr>
          <p:cNvPr id="4" name="Slide Number Placeholder 3">
            <a:extLst>
              <a:ext uri="{FF2B5EF4-FFF2-40B4-BE49-F238E27FC236}">
                <a16:creationId xmlns:a16="http://schemas.microsoft.com/office/drawing/2014/main" id="{2D859062-524A-3A6B-31DC-52EB19DACB6C}"/>
              </a:ext>
            </a:extLst>
          </p:cNvPr>
          <p:cNvSpPr>
            <a:spLocks noGrp="1"/>
          </p:cNvSpPr>
          <p:nvPr>
            <p:ph type="sldNum" sz="quarter" idx="5"/>
          </p:nvPr>
        </p:nvSpPr>
        <p:spPr/>
        <p:txBody>
          <a:bodyPr/>
          <a:lstStyle/>
          <a:p>
            <a:fld id="{535C764E-B103-4719-B1AC-10D7906EF19A}" type="slidenum">
              <a:rPr lang="en-US" smtClean="0"/>
              <a:t>18</a:t>
            </a:fld>
            <a:endParaRPr lang="en-US"/>
          </a:p>
        </p:txBody>
      </p:sp>
    </p:spTree>
    <p:extLst>
      <p:ext uri="{BB962C8B-B14F-4D97-AF65-F5344CB8AC3E}">
        <p14:creationId xmlns:p14="http://schemas.microsoft.com/office/powerpoint/2010/main" val="2815127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5AC9D-2F6D-FA8F-9B96-A0DB12BB9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B0D3D-9A55-F9F1-5428-2C59E57E8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E6CC6-7D2B-47BC-F609-B26A4251E73C}"/>
              </a:ext>
            </a:extLst>
          </p:cNvPr>
          <p:cNvSpPr>
            <a:spLocks noGrp="1"/>
          </p:cNvSpPr>
          <p:nvPr>
            <p:ph type="body" idx="1"/>
          </p:nvPr>
        </p:nvSpPr>
        <p:spPr/>
        <p:txBody>
          <a:bodyPr/>
          <a:lstStyle/>
          <a:p>
            <a:pPr marL="171450" indent="-171450">
              <a:buFontTx/>
              <a:buChar char="-"/>
            </a:pPr>
            <a:r>
              <a:rPr lang="en-US" b="1"/>
              <a:t>…..</a:t>
            </a:r>
          </a:p>
          <a:p>
            <a:pPr marL="171450" indent="-171450">
              <a:buFontTx/>
              <a:buChar char="-"/>
            </a:pPr>
            <a:r>
              <a:rPr lang="en-US" b="1"/>
              <a:t>…..</a:t>
            </a:r>
          </a:p>
          <a:p>
            <a:pPr marL="171450" indent="-171450">
              <a:buFontTx/>
              <a:buChar char="-"/>
            </a:pPr>
            <a:r>
              <a:rPr lang="en-US" b="1"/>
              <a:t>…..</a:t>
            </a:r>
          </a:p>
          <a:p>
            <a:pPr marL="0" indent="0">
              <a:buFontTx/>
              <a:buNone/>
            </a:pPr>
            <a:endParaRPr lang="en-US" b="1"/>
          </a:p>
          <a:p>
            <a:pPr marL="0" indent="0">
              <a:buFontTx/>
              <a:buNone/>
            </a:pPr>
            <a:r>
              <a:rPr lang="en-US" b="1"/>
              <a:t>----</a:t>
            </a:r>
            <a:r>
              <a:rPr lang="en-US" b="0"/>
              <a:t>Original Slide----</a:t>
            </a:r>
          </a:p>
          <a:p>
            <a:pPr marL="0" indent="0">
              <a:buFontTx/>
              <a:buNone/>
            </a:pPr>
            <a:r>
              <a:rPr lang="en-US"/>
              <a:t>Power Unit:</a:t>
            </a:r>
          </a:p>
          <a:p>
            <a:pPr marL="0" indent="0">
              <a:buFontTx/>
              <a:buNone/>
            </a:pPr>
            <a:r>
              <a:rPr lang="en-US" err="1"/>
              <a:t>DFRobot</a:t>
            </a:r>
            <a:r>
              <a:rPr lang="en-US"/>
              <a:t> UPS HAT + 4×18650 battery pack provides 5V logic rail, pass-through charging, and UPS functionality</a:t>
            </a:r>
          </a:p>
          <a:p>
            <a:pPr marL="0" indent="0">
              <a:buFontTx/>
              <a:buNone/>
            </a:pPr>
            <a:r>
              <a:rPr lang="en-US"/>
              <a:t>MT3608 step-up converts 5V to 12V, sent to power stepper motors (separate 12V rail)</a:t>
            </a:r>
          </a:p>
          <a:p>
            <a:pPr marL="0" indent="0">
              <a:buFontTx/>
              <a:buNone/>
            </a:pPr>
            <a:r>
              <a:rPr lang="en-US"/>
              <a:t>Dedicated fused branches: 5V to Pi/Control Unit/peripherals, 5V to buck (3.3V LV) for level shifter, and 12V to </a:t>
            </a:r>
            <a:r>
              <a:rPr lang="en-US" err="1"/>
              <a:t>CoreXY</a:t>
            </a:r>
            <a:r>
              <a:rPr lang="en-US"/>
              <a:t> motors</a:t>
            </a:r>
          </a:p>
          <a:p>
            <a:pPr marL="0" indent="0">
              <a:buFontTx/>
              <a:buNone/>
            </a:pPr>
            <a:r>
              <a:rPr lang="en-US"/>
              <a:t>Sleep mode &amp; PU-triggered inactivity for energy savings; UPS supports seamless switchover (&lt;20 </a:t>
            </a:r>
            <a:r>
              <a:rPr lang="en-US" err="1"/>
              <a:t>ms</a:t>
            </a:r>
            <a:r>
              <a:rPr lang="en-US"/>
              <a:t>)</a:t>
            </a:r>
          </a:p>
          <a:p>
            <a:pPr marL="0" indent="0">
              <a:buFontTx/>
              <a:buNone/>
            </a:pPr>
            <a:r>
              <a:rPr lang="en-US"/>
              <a:t>Design meets runtime and load goals (&gt;2 hours at average draw), while keeping the power system compact and serviceable</a:t>
            </a:r>
          </a:p>
          <a:p>
            <a:pPr marL="0" indent="0">
              <a:buFontTx/>
              <a:buNone/>
            </a:pPr>
            <a:endParaRPr lang="en-US"/>
          </a:p>
        </p:txBody>
      </p:sp>
      <p:sp>
        <p:nvSpPr>
          <p:cNvPr id="4" name="Slide Number Placeholder 3">
            <a:extLst>
              <a:ext uri="{FF2B5EF4-FFF2-40B4-BE49-F238E27FC236}">
                <a16:creationId xmlns:a16="http://schemas.microsoft.com/office/drawing/2014/main" id="{7F1FE962-20E2-5AEE-3796-F65444FF0885}"/>
              </a:ext>
            </a:extLst>
          </p:cNvPr>
          <p:cNvSpPr>
            <a:spLocks noGrp="1"/>
          </p:cNvSpPr>
          <p:nvPr>
            <p:ph type="sldNum" sz="quarter" idx="5"/>
          </p:nvPr>
        </p:nvSpPr>
        <p:spPr/>
        <p:txBody>
          <a:bodyPr/>
          <a:lstStyle/>
          <a:p>
            <a:fld id="{535C764E-B103-4719-B1AC-10D7906EF19A}" type="slidenum">
              <a:rPr lang="en-US" smtClean="0"/>
              <a:t>20</a:t>
            </a:fld>
            <a:endParaRPr lang="en-US"/>
          </a:p>
        </p:txBody>
      </p:sp>
    </p:spTree>
    <p:extLst>
      <p:ext uri="{BB962C8B-B14F-4D97-AF65-F5344CB8AC3E}">
        <p14:creationId xmlns:p14="http://schemas.microsoft.com/office/powerpoint/2010/main" val="4002618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building the </a:t>
            </a:r>
            <a:r>
              <a:rPr lang="en-US" err="1"/>
              <a:t>CoreXY</a:t>
            </a:r>
            <a:r>
              <a:rPr lang="en-US"/>
              <a:t>, I had to redesign and reprint many of my 3D printed parts to work with the materials that I had actually purchased. The </a:t>
            </a:r>
            <a:r>
              <a:rPr lang="en-US" err="1"/>
              <a:t>CoreXY</a:t>
            </a:r>
            <a:r>
              <a:rPr lang="en-US"/>
              <a:t> had to be rebuilt multiple times including re-dimensioning when the board dimensions changed. When I was re-dimensioning the </a:t>
            </a:r>
            <a:r>
              <a:rPr lang="en-US" err="1"/>
              <a:t>CoreXY</a:t>
            </a:r>
            <a:r>
              <a:rPr lang="en-US"/>
              <a:t>, I accidentally cut the aluminum extrusions too short; which required me to stretch the </a:t>
            </a:r>
            <a:r>
              <a:rPr lang="en-US" err="1"/>
              <a:t>CoreXY</a:t>
            </a:r>
            <a:r>
              <a:rPr lang="en-US"/>
              <a:t> and redesign some of my supports to accommodate the stretching. Also initial issues with the squareness of the </a:t>
            </a:r>
            <a:r>
              <a:rPr lang="en-US" err="1"/>
              <a:t>CoreXY</a:t>
            </a:r>
            <a:r>
              <a:rPr lang="en-US"/>
              <a:t> were solved by adding more corner brackets, and belt tensioning was trial and error; it took some practice to determine proper tension to avoid backlashing. Also due to the warping nature of the acrylic, I was unable to find a mount height that would work in all positions on the board. It would either be too high in the middle and not let go of the pieces properly, or too low on the edges and not grab on to them.</a:t>
            </a:r>
          </a:p>
        </p:txBody>
      </p:sp>
      <p:sp>
        <p:nvSpPr>
          <p:cNvPr id="4" name="Slide Number Placeholder 3"/>
          <p:cNvSpPr>
            <a:spLocks noGrp="1"/>
          </p:cNvSpPr>
          <p:nvPr>
            <p:ph type="sldNum" sz="quarter" idx="5"/>
          </p:nvPr>
        </p:nvSpPr>
        <p:spPr/>
        <p:txBody>
          <a:bodyPr/>
          <a:lstStyle/>
          <a:p>
            <a:fld id="{535C764E-B103-4719-B1AC-10D7906EF19A}" type="slidenum">
              <a:rPr lang="en-US" smtClean="0"/>
              <a:t>24</a:t>
            </a:fld>
            <a:endParaRPr lang="en-US"/>
          </a:p>
        </p:txBody>
      </p:sp>
    </p:spTree>
    <p:extLst>
      <p:ext uri="{BB962C8B-B14F-4D97-AF65-F5344CB8AC3E}">
        <p14:creationId xmlns:p14="http://schemas.microsoft.com/office/powerpoint/2010/main" val="2845473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learned that being generous with tolerances is important. It's always better to air on the side of caution in mechanical design.</a:t>
            </a:r>
          </a:p>
          <a:p>
            <a:r>
              <a:rPr lang="en-US"/>
              <a:t>Some future work that can be done on this project is making the top of the board flatter whether by changing the material or finding some way to better support the top. Also figuring out the proper magnet configuration; whether that be finding a mount height that works on a flat surface, or by replacing the current electromagnet with a stronger one. A stronger electromagnet would allow us to go with our original plan to use washers in the base of the pieces instead of magnets. An added benefit of that solution is that it would eliminate the problem of a piece gripping the electromagnet when it shouldn’t. Other things that can be done are increasing the speed of movement, adding AI difficulty levels and adding the ability to redo moves. </a:t>
            </a:r>
          </a:p>
        </p:txBody>
      </p:sp>
      <p:sp>
        <p:nvSpPr>
          <p:cNvPr id="4" name="Slide Number Placeholder 3"/>
          <p:cNvSpPr>
            <a:spLocks noGrp="1"/>
          </p:cNvSpPr>
          <p:nvPr>
            <p:ph type="sldNum" sz="quarter" idx="5"/>
          </p:nvPr>
        </p:nvSpPr>
        <p:spPr/>
        <p:txBody>
          <a:bodyPr/>
          <a:lstStyle/>
          <a:p>
            <a:fld id="{535C764E-B103-4719-B1AC-10D7906EF19A}" type="slidenum">
              <a:rPr lang="en-US" smtClean="0"/>
              <a:t>32</a:t>
            </a:fld>
            <a:endParaRPr lang="en-US"/>
          </a:p>
        </p:txBody>
      </p:sp>
    </p:spTree>
    <p:extLst>
      <p:ext uri="{BB962C8B-B14F-4D97-AF65-F5344CB8AC3E}">
        <p14:creationId xmlns:p14="http://schemas.microsoft.com/office/powerpoint/2010/main" val="1774244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225F3B3-F044-4EF3-87F6-B3FD110C94BC}" type="datetime1">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268218224"/>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FD9B2-4BCF-4AF6-8430-4C863198BFC3}" type="datetime1">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195930124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B8809A-14BA-4C37-9430-0D0BBE27A462}" type="datetime1">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91306082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229D30-0EAB-44DD-AA29-0D98863FE3BC}" type="datetime1">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2560319475"/>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47532E-CCF4-4D92-9810-93414E472E3B}" type="datetime1">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1335505169"/>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45EB9A4-9185-457F-8E1B-860BE726854D}" type="datetime1">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826450425"/>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CAE533-E674-451D-B4EF-E64DA063DA1C}" type="datetime1">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256887466"/>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FB0926-4744-4029-AF9C-89C16E42A67F}" type="datetime1">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2153034394"/>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6ED056-4211-48B3-84B7-93B5D1BEB84B}" type="datetime1">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1863521279"/>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B1D27-6562-4546-A403-58C3304132B7}" type="datetime1">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BC8D-D296-40C7-BB87-C3ACFF7B6C6E}" type="slidenum">
              <a:rPr lang="en-US" smtClean="0"/>
              <a:t>‹#›</a:t>
            </a:fld>
            <a:endParaRPr lang="en-US"/>
          </a:p>
        </p:txBody>
      </p:sp>
    </p:spTree>
    <p:extLst>
      <p:ext uri="{BB962C8B-B14F-4D97-AF65-F5344CB8AC3E}">
        <p14:creationId xmlns:p14="http://schemas.microsoft.com/office/powerpoint/2010/main" val="3643974765"/>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B1D27-6562-4546-A403-58C3304132B7}" type="datetime1">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BC8D-D296-40C7-BB87-C3ACFF7B6C6E}" type="slidenum">
              <a:rPr lang="en-US" smtClean="0"/>
              <a:t>‹#›</a:t>
            </a:fld>
            <a:endParaRPr lang="en-US"/>
          </a:p>
        </p:txBody>
      </p:sp>
    </p:spTree>
    <p:extLst>
      <p:ext uri="{BB962C8B-B14F-4D97-AF65-F5344CB8AC3E}">
        <p14:creationId xmlns:p14="http://schemas.microsoft.com/office/powerpoint/2010/main" val="180829105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B1D27-6562-4546-A403-58C3304132B7}" type="datetime1">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BC8D-D296-40C7-BB87-C3ACFF7B6C6E}"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73064575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B1D27-6562-4546-A403-58C3304132B7}" type="datetime1">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BC8D-D296-40C7-BB87-C3ACFF7B6C6E}" type="slidenum">
              <a:rPr lang="en-US" smtClean="0"/>
              <a:t>‹#›</a:t>
            </a:fld>
            <a:endParaRPr lang="en-US"/>
          </a:p>
        </p:txBody>
      </p:sp>
    </p:spTree>
    <p:extLst>
      <p:ext uri="{BB962C8B-B14F-4D97-AF65-F5344CB8AC3E}">
        <p14:creationId xmlns:p14="http://schemas.microsoft.com/office/powerpoint/2010/main" val="227970815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7AB1D27-6562-4546-A403-58C3304132B7}" type="datetime1">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72BC8D-D296-40C7-BB87-C3ACFF7B6C6E}" type="slidenum">
              <a:rPr lang="en-US" smtClean="0"/>
              <a:t>‹#›</a:t>
            </a:fld>
            <a:endParaRPr lang="en-US"/>
          </a:p>
        </p:txBody>
      </p:sp>
    </p:spTree>
    <p:extLst>
      <p:ext uri="{BB962C8B-B14F-4D97-AF65-F5344CB8AC3E}">
        <p14:creationId xmlns:p14="http://schemas.microsoft.com/office/powerpoint/2010/main" val="2592109204"/>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7AB1D27-6562-4546-A403-58C3304132B7}" type="datetime1">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72BC8D-D296-40C7-BB87-C3ACFF7B6C6E}" type="slidenum">
              <a:rPr lang="en-US" smtClean="0"/>
              <a:t>‹#›</a:t>
            </a:fld>
            <a:endParaRPr lang="en-US"/>
          </a:p>
        </p:txBody>
      </p:sp>
    </p:spTree>
    <p:extLst>
      <p:ext uri="{BB962C8B-B14F-4D97-AF65-F5344CB8AC3E}">
        <p14:creationId xmlns:p14="http://schemas.microsoft.com/office/powerpoint/2010/main" val="3204103162"/>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38BE57-6E89-44AC-AE8E-7C4BB0B8B547}" type="datetime1">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358301815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A481B5-06BC-4659-91FC-F936B3BC5D07}" type="datetime1">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BC8D-D296-40C7-BB87-C3ACFF7B6C6E}" type="slidenum">
              <a:rPr lang="en-US" smtClean="0"/>
              <a:pPr/>
              <a:t>‹#›</a:t>
            </a:fld>
            <a:endParaRPr lang="en-US"/>
          </a:p>
        </p:txBody>
      </p:sp>
    </p:spTree>
    <p:extLst>
      <p:ext uri="{BB962C8B-B14F-4D97-AF65-F5344CB8AC3E}">
        <p14:creationId xmlns:p14="http://schemas.microsoft.com/office/powerpoint/2010/main" val="826446435"/>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7AB1D27-6562-4546-A403-58C3304132B7}" type="datetime1">
              <a:rPr lang="en-US" smtClean="0"/>
              <a:t>5/6/2026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072BC8D-D296-40C7-BB87-C3ACFF7B6C6E}" type="slidenum">
              <a:rPr lang="en-US" smtClean="0"/>
              <a:t>‹#›</a:t>
            </a:fld>
            <a:endParaRPr lang="en-US"/>
          </a:p>
        </p:txBody>
      </p:sp>
    </p:spTree>
    <p:extLst>
      <p:ext uri="{BB962C8B-B14F-4D97-AF65-F5344CB8AC3E}">
        <p14:creationId xmlns:p14="http://schemas.microsoft.com/office/powerpoint/2010/main" val="36357457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alphacephei.com/vosk/" TargetMode="External"/><Relationship Id="rId2" Type="http://schemas.openxmlformats.org/officeDocument/2006/relationships/hyperlink" Target="https://github.com/niklasf/python-chess" TargetMode="External"/><Relationship Id="rId1" Type="http://schemas.openxmlformats.org/officeDocument/2006/relationships/slideLayout" Target="../slideLayouts/slideLayout2.xml"/><Relationship Id="rId4" Type="http://schemas.openxmlformats.org/officeDocument/2006/relationships/hyperlink" Target="https://stockfishchess.or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3.xml"/><Relationship Id="rId1" Type="http://schemas.openxmlformats.org/officeDocument/2006/relationships/video" Target="https://www.youtube.com/embed/9_9py33vPpE?feature=oembe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3078" name="Picture 6" descr="A chess board with chess pieces on it&#10;&#10;AI-generated content may be incorrect.">
            <a:extLst>
              <a:ext uri="{FF2B5EF4-FFF2-40B4-BE49-F238E27FC236}">
                <a16:creationId xmlns:a16="http://schemas.microsoft.com/office/drawing/2014/main" id="{A577E9CF-4CBA-3D4C-81F5-EE7777303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06" b="16946"/>
          <a:stretch>
            <a:fillRect/>
          </a:stretch>
        </p:blipFill>
        <p:spPr bwMode="auto">
          <a:xfrm>
            <a:off x="20" y="2030"/>
            <a:ext cx="12191980" cy="6855970"/>
          </a:xfrm>
          <a:prstGeom prst="rect">
            <a:avLst/>
          </a:prstGeom>
          <a:noFill/>
          <a:extLst>
            <a:ext uri="{909E8E84-426E-40DD-AFC4-6F175D3DCCD1}">
              <a14:hiddenFill xmlns:a14="http://schemas.microsoft.com/office/drawing/2010/main">
                <a:solidFill>
                  <a:srgbClr val="FFFFFF"/>
                </a:solidFill>
              </a14:hiddenFill>
            </a:ext>
          </a:extLst>
        </p:spPr>
      </p:pic>
      <p:sp>
        <p:nvSpPr>
          <p:cNvPr id="3083" name="Rectangle 3082">
            <a:extLst>
              <a:ext uri="{FF2B5EF4-FFF2-40B4-BE49-F238E27FC236}">
                <a16:creationId xmlns:a16="http://schemas.microsoft.com/office/drawing/2014/main" id="{BD1CAB03-F6A4-4736-85F6-26105642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085" name="Rectangle 3084">
            <a:extLst>
              <a:ext uri="{FF2B5EF4-FFF2-40B4-BE49-F238E27FC236}">
                <a16:creationId xmlns:a16="http://schemas.microsoft.com/office/drawing/2014/main" id="{3E2321B3-5D47-422E-8DD6-192DA485F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extLst>
                <a:ext uri="{BEBA8EAE-BF5A-486C-A8C5-ECC9F3942E4B}">
                  <a14:imgProps xmlns:a14="http://schemas.microsoft.com/office/drawing/2010/main">
                    <a14:imgLayer>
                      <a14:imgEffect>
                        <a14:sharpenSoften amount="35000"/>
                      </a14:imgEffect>
                    </a14:imgLayer>
                  </a14:imgProps>
                </a:ext>
              </a:extLst>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9F652A-3086-4582-B371-C6F62DD54BF6}"/>
              </a:ext>
            </a:extLst>
          </p:cNvPr>
          <p:cNvSpPr>
            <a:spLocks noGrp="1"/>
          </p:cNvSpPr>
          <p:nvPr>
            <p:ph type="ctrTitle"/>
          </p:nvPr>
        </p:nvSpPr>
        <p:spPr>
          <a:xfrm>
            <a:off x="1744558" y="351994"/>
            <a:ext cx="9001462" cy="1081882"/>
          </a:xfrm>
        </p:spPr>
        <p:txBody>
          <a:bodyPr>
            <a:normAutofit/>
          </a:bodyPr>
          <a:lstStyle/>
          <a:p>
            <a:r>
              <a:rPr lang="en-US" sz="5400" i="1">
                <a:latin typeface="OCR A Extended" panose="02010509020102010303" pitchFamily="50" charset="0"/>
              </a:rPr>
              <a:t>Chess</a:t>
            </a:r>
            <a:r>
              <a:rPr lang="en-US">
                <a:latin typeface="PT Sans"/>
              </a:rPr>
              <a:t>       </a:t>
            </a:r>
            <a:r>
              <a:rPr lang="en-US" i="1">
                <a:latin typeface="OCR A Extended" panose="02010509020102010303" pitchFamily="50" charset="0"/>
              </a:rPr>
              <a:t>Impress</a:t>
            </a:r>
          </a:p>
        </p:txBody>
      </p:sp>
      <p:sp>
        <p:nvSpPr>
          <p:cNvPr id="4" name="Slide Number Placeholder 3">
            <a:extLst>
              <a:ext uri="{FF2B5EF4-FFF2-40B4-BE49-F238E27FC236}">
                <a16:creationId xmlns:a16="http://schemas.microsoft.com/office/drawing/2014/main" id="{F5F0D7AE-060B-4F76-AD06-2C1A03F34611}"/>
              </a:ext>
            </a:extLst>
          </p:cNvPr>
          <p:cNvSpPr>
            <a:spLocks noGrp="1"/>
          </p:cNvSpPr>
          <p:nvPr>
            <p:ph type="sldNum" sz="quarter" idx="12"/>
          </p:nvPr>
        </p:nvSpPr>
        <p:spPr>
          <a:xfrm>
            <a:off x="10514011" y="5883275"/>
            <a:ext cx="753545" cy="365125"/>
          </a:xfrm>
        </p:spPr>
        <p:txBody>
          <a:bodyPr>
            <a:normAutofit/>
          </a:bodyPr>
          <a:lstStyle/>
          <a:p>
            <a:pPr>
              <a:spcAft>
                <a:spcPts val="600"/>
              </a:spcAft>
            </a:pPr>
            <a:fld id="{4072BC8D-D296-40C7-BB87-C3ACFF7B6C6E}" type="slidenum">
              <a:rPr lang="en-US" smtClean="0"/>
              <a:pPr>
                <a:spcAft>
                  <a:spcPts val="600"/>
                </a:spcAft>
              </a:pPr>
              <a:t>1</a:t>
            </a:fld>
            <a:endParaRPr lang="en-US"/>
          </a:p>
        </p:txBody>
      </p:sp>
      <p:pic>
        <p:nvPicPr>
          <p:cNvPr id="3080" name="Picture 8">
            <a:extLst>
              <a:ext uri="{FF2B5EF4-FFF2-40B4-BE49-F238E27FC236}">
                <a16:creationId xmlns:a16="http://schemas.microsoft.com/office/drawing/2014/main" id="{D30EED6A-60F0-F017-67AF-29B99B6A37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2490" y="1841166"/>
            <a:ext cx="1267020" cy="126702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578E2FED-F854-6244-04E1-750A11EF6374}"/>
              </a:ext>
            </a:extLst>
          </p:cNvPr>
          <p:cNvSpPr txBox="1"/>
          <p:nvPr/>
        </p:nvSpPr>
        <p:spPr>
          <a:xfrm>
            <a:off x="4794379" y="3108186"/>
            <a:ext cx="2603241" cy="954107"/>
          </a:xfrm>
          <a:prstGeom prst="rect">
            <a:avLst/>
          </a:prstGeom>
          <a:noFill/>
        </p:spPr>
        <p:txBody>
          <a:bodyPr wrap="square" rtlCol="0">
            <a:spAutoFit/>
          </a:bodyPr>
          <a:lstStyle/>
          <a:p>
            <a:pPr algn="ctr"/>
            <a:r>
              <a:rPr lang="en-US" sz="2800" b="1">
                <a:effectLst>
                  <a:outerShdw blurRad="38100" dist="38100" dir="2700000" algn="tl">
                    <a:srgbClr val="000000">
                      <a:alpha val="43137"/>
                    </a:srgbClr>
                  </a:outerShdw>
                </a:effectLst>
              </a:rPr>
              <a:t>Nathan MacPherson</a:t>
            </a:r>
          </a:p>
        </p:txBody>
      </p:sp>
      <p:pic>
        <p:nvPicPr>
          <p:cNvPr id="3084" name="Picture 12">
            <a:extLst>
              <a:ext uri="{FF2B5EF4-FFF2-40B4-BE49-F238E27FC236}">
                <a16:creationId xmlns:a16="http://schemas.microsoft.com/office/drawing/2014/main" id="{A0A8FC35-1E6B-49B6-E6E1-D79328C0BB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3556" y="2677205"/>
            <a:ext cx="1267020" cy="1267020"/>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a:extLst>
              <a:ext uri="{FF2B5EF4-FFF2-40B4-BE49-F238E27FC236}">
                <a16:creationId xmlns:a16="http://schemas.microsoft.com/office/drawing/2014/main" id="{E3758BFA-EEC0-0695-D6FB-B2372F85EB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1424" y="2714529"/>
            <a:ext cx="1267019" cy="126701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D01F99D-7D01-FA32-6C86-F36ACB35EA81}"/>
              </a:ext>
            </a:extLst>
          </p:cNvPr>
          <p:cNvSpPr txBox="1"/>
          <p:nvPr/>
        </p:nvSpPr>
        <p:spPr>
          <a:xfrm>
            <a:off x="2383312" y="3981244"/>
            <a:ext cx="2603241" cy="523220"/>
          </a:xfrm>
          <a:prstGeom prst="rect">
            <a:avLst/>
          </a:prstGeom>
          <a:noFill/>
        </p:spPr>
        <p:txBody>
          <a:bodyPr wrap="square" rtlCol="0">
            <a:spAutoFit/>
          </a:bodyPr>
          <a:lstStyle/>
          <a:p>
            <a:pPr algn="ctr"/>
            <a:r>
              <a:rPr lang="en-US" sz="2800" b="1">
                <a:effectLst>
                  <a:outerShdw blurRad="38100" dist="38100" dir="2700000" algn="tl">
                    <a:srgbClr val="000000">
                      <a:alpha val="43137"/>
                    </a:srgbClr>
                  </a:outerShdw>
                </a:effectLst>
              </a:rPr>
              <a:t>Lewis Bates</a:t>
            </a:r>
          </a:p>
        </p:txBody>
      </p:sp>
      <p:sp>
        <p:nvSpPr>
          <p:cNvPr id="19" name="TextBox 18">
            <a:extLst>
              <a:ext uri="{FF2B5EF4-FFF2-40B4-BE49-F238E27FC236}">
                <a16:creationId xmlns:a16="http://schemas.microsoft.com/office/drawing/2014/main" id="{4E77B6B9-2D62-AF53-D588-734CF9AEFB49}"/>
              </a:ext>
            </a:extLst>
          </p:cNvPr>
          <p:cNvSpPr txBox="1"/>
          <p:nvPr/>
        </p:nvSpPr>
        <p:spPr>
          <a:xfrm>
            <a:off x="7269258" y="3981244"/>
            <a:ext cx="2603241" cy="523220"/>
          </a:xfrm>
          <a:prstGeom prst="rect">
            <a:avLst/>
          </a:prstGeom>
          <a:noFill/>
        </p:spPr>
        <p:txBody>
          <a:bodyPr wrap="square" rtlCol="0">
            <a:spAutoFit/>
          </a:bodyPr>
          <a:lstStyle/>
          <a:p>
            <a:pPr algn="ctr"/>
            <a:r>
              <a:rPr lang="en-US" sz="2800" b="1">
                <a:effectLst>
                  <a:outerShdw blurRad="38100" dist="38100" dir="2700000" algn="tl">
                    <a:srgbClr val="000000">
                      <a:alpha val="43137"/>
                    </a:srgbClr>
                  </a:outerShdw>
                </a:effectLst>
              </a:rPr>
              <a:t>Jack Tolleson</a:t>
            </a:r>
          </a:p>
        </p:txBody>
      </p:sp>
      <p:pic>
        <p:nvPicPr>
          <p:cNvPr id="3092" name="Picture 20">
            <a:extLst>
              <a:ext uri="{FF2B5EF4-FFF2-40B4-BE49-F238E27FC236}">
                <a16:creationId xmlns:a16="http://schemas.microsoft.com/office/drawing/2014/main" id="{ECCC3B5E-DD12-D728-394F-99B5D2CAE4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9303" y="4319992"/>
            <a:ext cx="1267020" cy="126702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0">
            <a:extLst>
              <a:ext uri="{FF2B5EF4-FFF2-40B4-BE49-F238E27FC236}">
                <a16:creationId xmlns:a16="http://schemas.microsoft.com/office/drawing/2014/main" id="{EDD7E6B2-32B6-0421-6C18-420D4A1026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72499" y="4242854"/>
            <a:ext cx="1267020" cy="126702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C955D29-DD07-085B-7A68-84A7DD638433}"/>
              </a:ext>
            </a:extLst>
          </p:cNvPr>
          <p:cNvSpPr txBox="1"/>
          <p:nvPr/>
        </p:nvSpPr>
        <p:spPr>
          <a:xfrm>
            <a:off x="550012" y="5622663"/>
            <a:ext cx="2828657" cy="523220"/>
          </a:xfrm>
          <a:prstGeom prst="rect">
            <a:avLst/>
          </a:prstGeom>
          <a:noFill/>
        </p:spPr>
        <p:txBody>
          <a:bodyPr wrap="square" rtlCol="0">
            <a:spAutoFit/>
          </a:bodyPr>
          <a:lstStyle/>
          <a:p>
            <a:pPr algn="ctr"/>
            <a:r>
              <a:rPr lang="en-US" sz="2800" b="1">
                <a:effectLst>
                  <a:outerShdw blurRad="38100" dist="38100" dir="2700000" algn="tl">
                    <a:srgbClr val="000000">
                      <a:alpha val="43137"/>
                    </a:srgbClr>
                  </a:outerShdw>
                </a:effectLst>
              </a:rPr>
              <a:t>Allison Givens</a:t>
            </a:r>
          </a:p>
        </p:txBody>
      </p:sp>
      <p:sp>
        <p:nvSpPr>
          <p:cNvPr id="22" name="TextBox 21">
            <a:extLst>
              <a:ext uri="{FF2B5EF4-FFF2-40B4-BE49-F238E27FC236}">
                <a16:creationId xmlns:a16="http://schemas.microsoft.com/office/drawing/2014/main" id="{FF58CD26-766D-A98F-D4F8-54F9563B6C9C}"/>
              </a:ext>
            </a:extLst>
          </p:cNvPr>
          <p:cNvSpPr txBox="1"/>
          <p:nvPr/>
        </p:nvSpPr>
        <p:spPr>
          <a:xfrm>
            <a:off x="9091680" y="5587012"/>
            <a:ext cx="2828657" cy="523220"/>
          </a:xfrm>
          <a:prstGeom prst="rect">
            <a:avLst/>
          </a:prstGeom>
          <a:noFill/>
        </p:spPr>
        <p:txBody>
          <a:bodyPr wrap="square" rtlCol="0">
            <a:spAutoFit/>
          </a:bodyPr>
          <a:lstStyle/>
          <a:p>
            <a:pPr algn="ctr"/>
            <a:r>
              <a:rPr lang="en-US" sz="2800" b="1">
                <a:effectLst>
                  <a:outerShdw blurRad="38100" dist="38100" dir="2700000" algn="tl">
                    <a:srgbClr val="000000">
                      <a:alpha val="43137"/>
                    </a:srgbClr>
                  </a:outerShdw>
                </a:effectLst>
              </a:rPr>
              <a:t>Noah Beaty</a:t>
            </a:r>
          </a:p>
        </p:txBody>
      </p:sp>
      <p:pic>
        <p:nvPicPr>
          <p:cNvPr id="3098" name="Picture 26" descr="The Fast and the Furious Font">
            <a:extLst>
              <a:ext uri="{FF2B5EF4-FFF2-40B4-BE49-F238E27FC236}">
                <a16:creationId xmlns:a16="http://schemas.microsoft.com/office/drawing/2014/main" id="{B6C2258A-6CDF-7DC1-FB38-C9FD386923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38737" y="443589"/>
            <a:ext cx="1114524" cy="993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196666"/>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A941-DD4D-7C08-92EE-9649B93DF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10963-68C2-F60C-33F9-EE9994E6ABC3}"/>
              </a:ext>
            </a:extLst>
          </p:cNvPr>
          <p:cNvSpPr>
            <a:spLocks noGrp="1"/>
          </p:cNvSpPr>
          <p:nvPr>
            <p:ph type="title"/>
          </p:nvPr>
        </p:nvSpPr>
        <p:spPr>
          <a:xfrm>
            <a:off x="913795" y="147791"/>
            <a:ext cx="10353761" cy="1326321"/>
          </a:xfrm>
        </p:spPr>
        <p:txBody>
          <a:bodyPr/>
          <a:lstStyle/>
          <a:p>
            <a:r>
              <a:rPr lang="en-US"/>
              <a:t>Outline</a:t>
            </a:r>
          </a:p>
        </p:txBody>
      </p:sp>
      <p:sp>
        <p:nvSpPr>
          <p:cNvPr id="3" name="Content Placeholder 2">
            <a:extLst>
              <a:ext uri="{FF2B5EF4-FFF2-40B4-BE49-F238E27FC236}">
                <a16:creationId xmlns:a16="http://schemas.microsoft.com/office/drawing/2014/main" id="{B250ABA1-C4F8-EE0B-3A19-57072B0D6027}"/>
              </a:ext>
            </a:extLst>
          </p:cNvPr>
          <p:cNvSpPr>
            <a:spLocks noGrp="1"/>
          </p:cNvSpPr>
          <p:nvPr>
            <p:ph idx="1"/>
          </p:nvPr>
        </p:nvSpPr>
        <p:spPr>
          <a:xfrm>
            <a:off x="913795" y="1016000"/>
            <a:ext cx="10353762" cy="4294909"/>
          </a:xfrm>
        </p:spPr>
        <p:txBody>
          <a:bodyPr>
            <a:noAutofit/>
          </a:bodyPr>
          <a:lstStyle/>
          <a:p>
            <a:r>
              <a:rPr lang="en-US" sz="3600" b="1"/>
              <a:t>Problem Formulation</a:t>
            </a:r>
          </a:p>
          <a:p>
            <a:r>
              <a:rPr lang="en-US" sz="3600">
                <a:solidFill>
                  <a:schemeClr val="tx1">
                    <a:lumMod val="85000"/>
                  </a:schemeClr>
                </a:solidFill>
              </a:rPr>
              <a:t>Standards, Ethics, and Broader Impacts</a:t>
            </a:r>
          </a:p>
          <a:p>
            <a:r>
              <a:rPr lang="en-US" sz="3600">
                <a:solidFill>
                  <a:schemeClr val="tx1">
                    <a:lumMod val="85000"/>
                  </a:schemeClr>
                </a:solidFill>
              </a:rPr>
              <a:t>Overview of Conceptual Design</a:t>
            </a:r>
          </a:p>
          <a:p>
            <a:r>
              <a:rPr lang="en-US" sz="3600">
                <a:solidFill>
                  <a:schemeClr val="tx1">
                    <a:lumMod val="85000"/>
                  </a:schemeClr>
                </a:solidFill>
              </a:rPr>
              <a:t>Detailed Design</a:t>
            </a:r>
          </a:p>
          <a:p>
            <a:r>
              <a:rPr lang="en-US" sz="3600">
                <a:solidFill>
                  <a:schemeClr val="tx1">
                    <a:lumMod val="85000"/>
                  </a:schemeClr>
                </a:solidFill>
              </a:rPr>
              <a:t>Implementation and Experimentation</a:t>
            </a:r>
          </a:p>
          <a:p>
            <a:r>
              <a:rPr lang="en-US" sz="3600">
                <a:solidFill>
                  <a:schemeClr val="tx1">
                    <a:lumMod val="85000"/>
                  </a:schemeClr>
                </a:solidFill>
              </a:rPr>
              <a:t>Demonstration</a:t>
            </a:r>
          </a:p>
          <a:p>
            <a:r>
              <a:rPr lang="en-US" sz="3600">
                <a:solidFill>
                  <a:schemeClr val="tx1">
                    <a:lumMod val="85000"/>
                  </a:schemeClr>
                </a:solidFill>
              </a:rPr>
              <a:t>Lessons Learned</a:t>
            </a:r>
          </a:p>
        </p:txBody>
      </p:sp>
      <p:sp>
        <p:nvSpPr>
          <p:cNvPr id="4" name="Slide Number Placeholder 3">
            <a:extLst>
              <a:ext uri="{FF2B5EF4-FFF2-40B4-BE49-F238E27FC236}">
                <a16:creationId xmlns:a16="http://schemas.microsoft.com/office/drawing/2014/main" id="{4EA91EE5-F5A0-0251-4B9D-D651C818BAFE}"/>
              </a:ext>
            </a:extLst>
          </p:cNvPr>
          <p:cNvSpPr>
            <a:spLocks noGrp="1"/>
          </p:cNvSpPr>
          <p:nvPr>
            <p:ph type="sldNum" sz="quarter" idx="12"/>
          </p:nvPr>
        </p:nvSpPr>
        <p:spPr/>
        <p:txBody>
          <a:bodyPr/>
          <a:lstStyle/>
          <a:p>
            <a:fld id="{4072BC8D-D296-40C7-BB87-C3ACFF7B6C6E}" type="slidenum">
              <a:rPr lang="en-US" smtClean="0"/>
              <a:pPr/>
              <a:t>2</a:t>
            </a:fld>
            <a:endParaRPr lang="en-US"/>
          </a:p>
        </p:txBody>
      </p:sp>
    </p:spTree>
    <p:extLst>
      <p:ext uri="{BB962C8B-B14F-4D97-AF65-F5344CB8AC3E}">
        <p14:creationId xmlns:p14="http://schemas.microsoft.com/office/powerpoint/2010/main" val="568198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C7C4-EE77-497E-B0F5-9921881D62A9}"/>
              </a:ext>
            </a:extLst>
          </p:cNvPr>
          <p:cNvSpPr>
            <a:spLocks noGrp="1"/>
          </p:cNvSpPr>
          <p:nvPr>
            <p:ph type="title"/>
          </p:nvPr>
        </p:nvSpPr>
        <p:spPr>
          <a:xfrm>
            <a:off x="4927472" y="609600"/>
            <a:ext cx="6340084" cy="1326321"/>
          </a:xfrm>
        </p:spPr>
        <p:txBody>
          <a:bodyPr>
            <a:normAutofit/>
          </a:bodyPr>
          <a:lstStyle/>
          <a:p>
            <a:r>
              <a:rPr lang="en-US"/>
              <a:t>Background </a:t>
            </a:r>
          </a:p>
        </p:txBody>
      </p:sp>
      <p:pic>
        <p:nvPicPr>
          <p:cNvPr id="20" name="Picture 19" descr="Checkmate in a chess game">
            <a:extLst>
              <a:ext uri="{FF2B5EF4-FFF2-40B4-BE49-F238E27FC236}">
                <a16:creationId xmlns:a16="http://schemas.microsoft.com/office/drawing/2014/main" id="{0E23CA0F-4553-8D4C-1FD1-34A0E6B1F93D}"/>
              </a:ext>
            </a:extLst>
          </p:cNvPr>
          <p:cNvPicPr>
            <a:picLocks noChangeAspect="1"/>
          </p:cNvPicPr>
          <p:nvPr/>
        </p:nvPicPr>
        <p:blipFill>
          <a:blip r:embed="rId4"/>
          <a:srcRect l="23140" r="25654" b="2"/>
          <a:stretch>
            <a:fillRect/>
          </a:stretch>
        </p:blipFill>
        <p:spPr>
          <a:xfrm>
            <a:off x="20" y="10"/>
            <a:ext cx="4635987" cy="6857990"/>
          </a:xfrm>
          <a:prstGeom prst="rect">
            <a:avLst/>
          </a:prstGeom>
        </p:spPr>
      </p:pic>
      <p:sp>
        <p:nvSpPr>
          <p:cNvPr id="21" name="Content Placeholder 2">
            <a:extLst>
              <a:ext uri="{FF2B5EF4-FFF2-40B4-BE49-F238E27FC236}">
                <a16:creationId xmlns:a16="http://schemas.microsoft.com/office/drawing/2014/main" id="{86BD3C50-F626-4D3C-A59E-314704E64866}"/>
              </a:ext>
            </a:extLst>
          </p:cNvPr>
          <p:cNvSpPr>
            <a:spLocks noGrp="1"/>
          </p:cNvSpPr>
          <p:nvPr>
            <p:ph idx="1"/>
          </p:nvPr>
        </p:nvSpPr>
        <p:spPr>
          <a:xfrm>
            <a:off x="4927471" y="2096064"/>
            <a:ext cx="6340085" cy="3695136"/>
          </a:xfrm>
        </p:spPr>
        <p:txBody>
          <a:bodyPr vert="horz" lIns="91440" tIns="45720" rIns="91440" bIns="45720" rtlCol="0">
            <a:normAutofit lnSpcReduction="10000"/>
          </a:bodyPr>
          <a:lstStyle/>
          <a:p>
            <a:pPr>
              <a:lnSpc>
                <a:spcPct val="110000"/>
              </a:lnSpc>
            </a:pPr>
            <a:r>
              <a:rPr lang="en-US"/>
              <a:t>More automated chess boards are being made, allowing people to interact with over the board chess in new ways.</a:t>
            </a:r>
          </a:p>
          <a:p>
            <a:pPr>
              <a:lnSpc>
                <a:spcPct val="110000"/>
              </a:lnSpc>
            </a:pPr>
            <a:r>
              <a:rPr lang="en-US"/>
              <a:t>They are expensive and inaccessible to most people.</a:t>
            </a:r>
          </a:p>
          <a:p>
            <a:pPr>
              <a:lnSpc>
                <a:spcPct val="110000"/>
              </a:lnSpc>
            </a:pPr>
            <a:r>
              <a:rPr lang="en-US"/>
              <a:t>This project is tailored more towards the average chess player, giving them a new and exciting way to play.</a:t>
            </a:r>
          </a:p>
          <a:p>
            <a:pPr>
              <a:lnSpc>
                <a:spcPct val="110000"/>
              </a:lnSpc>
            </a:pPr>
            <a:r>
              <a:rPr lang="en-US"/>
              <a:t>Worked with the TN Tech Chess Club to get feedback from more experienced chess players.</a:t>
            </a:r>
          </a:p>
          <a:p>
            <a:pPr>
              <a:lnSpc>
                <a:spcPct val="110000"/>
              </a:lnSpc>
            </a:pPr>
            <a:endParaRPr lang="en-US"/>
          </a:p>
          <a:p>
            <a:pPr>
              <a:lnSpc>
                <a:spcPct val="110000"/>
              </a:lnSpc>
            </a:pPr>
            <a:endParaRPr lang="en-US"/>
          </a:p>
          <a:p>
            <a:pPr>
              <a:lnSpc>
                <a:spcPct val="110000"/>
              </a:lnSpc>
            </a:pPr>
            <a:endParaRPr lang="en-US"/>
          </a:p>
          <a:p>
            <a:pPr>
              <a:lnSpc>
                <a:spcPct val="110000"/>
              </a:lnSpc>
            </a:pPr>
            <a:endParaRPr lang="en-US"/>
          </a:p>
        </p:txBody>
      </p:sp>
      <p:cxnSp>
        <p:nvCxnSpPr>
          <p:cNvPr id="22" name="Straight Connector 21">
            <a:extLst>
              <a:ext uri="{FF2B5EF4-FFF2-40B4-BE49-F238E27FC236}">
                <a16:creationId xmlns:a16="http://schemas.microsoft.com/office/drawing/2014/main" id="{E2A31A05-19BB-4F84-9402-E8569CBDBD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6007"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88C9F22-EC82-474D-ADB2-11252566AFAC}"/>
              </a:ext>
            </a:extLst>
          </p:cNvPr>
          <p:cNvSpPr>
            <a:spLocks noGrp="1"/>
          </p:cNvSpPr>
          <p:nvPr>
            <p:ph type="sldNum" sz="quarter" idx="12"/>
          </p:nvPr>
        </p:nvSpPr>
        <p:spPr>
          <a:xfrm>
            <a:off x="10514011" y="6309360"/>
            <a:ext cx="753545" cy="365125"/>
          </a:xfrm>
        </p:spPr>
        <p:txBody>
          <a:bodyPr>
            <a:normAutofit/>
          </a:bodyPr>
          <a:lstStyle/>
          <a:p>
            <a:pPr>
              <a:spcAft>
                <a:spcPts val="600"/>
              </a:spcAft>
            </a:pPr>
            <a:fld id="{4072BC8D-D296-40C7-BB87-C3ACFF7B6C6E}" type="slidenum">
              <a:rPr lang="en-US" smtClean="0"/>
              <a:pPr>
                <a:spcAft>
                  <a:spcPts val="600"/>
                </a:spcAft>
              </a:pPr>
              <a:t>3</a:t>
            </a:fld>
            <a:endParaRPr lang="en-US"/>
          </a:p>
        </p:txBody>
      </p:sp>
      <p:sp>
        <p:nvSpPr>
          <p:cNvPr id="5" name="TextBox 4">
            <a:extLst>
              <a:ext uri="{FF2B5EF4-FFF2-40B4-BE49-F238E27FC236}">
                <a16:creationId xmlns:a16="http://schemas.microsoft.com/office/drawing/2014/main" id="{02DD7BE3-177B-D2E6-2AD5-6568BE845E0A}"/>
              </a:ext>
            </a:extLst>
          </p:cNvPr>
          <p:cNvSpPr txBox="1"/>
          <p:nvPr/>
        </p:nvSpPr>
        <p:spPr>
          <a:xfrm>
            <a:off x="5050232" y="6455283"/>
            <a:ext cx="6094562" cy="276999"/>
          </a:xfrm>
          <a:prstGeom prst="rect">
            <a:avLst/>
          </a:prstGeom>
          <a:noFill/>
        </p:spPr>
        <p:txBody>
          <a:bodyPr wrap="square">
            <a:spAutoFit/>
          </a:bodyPr>
          <a:lstStyle/>
          <a:p>
            <a:r>
              <a:rPr lang="en-US" sz="1200"/>
              <a:t>Source: Chess.com, “The Rise of Smart Chess Boards,” 2023</a:t>
            </a:r>
          </a:p>
        </p:txBody>
      </p:sp>
    </p:spTree>
    <p:extLst>
      <p:ext uri="{BB962C8B-B14F-4D97-AF65-F5344CB8AC3E}">
        <p14:creationId xmlns:p14="http://schemas.microsoft.com/office/powerpoint/2010/main" val="1167404259"/>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B7AA1-4E99-47A8-88FD-7129E44E3F7D}"/>
              </a:ext>
            </a:extLst>
          </p:cNvPr>
          <p:cNvSpPr>
            <a:spLocks noGrp="1"/>
          </p:cNvSpPr>
          <p:nvPr>
            <p:ph type="title"/>
          </p:nvPr>
        </p:nvSpPr>
        <p:spPr>
          <a:xfrm>
            <a:off x="752475" y="609600"/>
            <a:ext cx="3643150" cy="5603310"/>
          </a:xfrm>
        </p:spPr>
        <p:txBody>
          <a:bodyPr>
            <a:normAutofit/>
          </a:bodyPr>
          <a:lstStyle/>
          <a:p>
            <a:r>
              <a:rPr lang="en-US"/>
              <a:t>Problem Formulation</a:t>
            </a:r>
          </a:p>
        </p:txBody>
      </p:sp>
      <p:sp>
        <p:nvSpPr>
          <p:cNvPr id="4" name="Slide Number Placeholder 3">
            <a:extLst>
              <a:ext uri="{FF2B5EF4-FFF2-40B4-BE49-F238E27FC236}">
                <a16:creationId xmlns:a16="http://schemas.microsoft.com/office/drawing/2014/main" id="{DD07ADB6-6C5B-48E0-9C5A-B19AF223F466}"/>
              </a:ext>
            </a:extLst>
          </p:cNvPr>
          <p:cNvSpPr>
            <a:spLocks noGrp="1"/>
          </p:cNvSpPr>
          <p:nvPr>
            <p:ph type="sldNum" sz="quarter" idx="12"/>
          </p:nvPr>
        </p:nvSpPr>
        <p:spPr>
          <a:xfrm>
            <a:off x="10514011" y="6309360"/>
            <a:ext cx="753545" cy="365125"/>
          </a:xfrm>
        </p:spPr>
        <p:txBody>
          <a:bodyPr>
            <a:normAutofit/>
          </a:bodyPr>
          <a:lstStyle/>
          <a:p>
            <a:pPr>
              <a:spcAft>
                <a:spcPts val="600"/>
              </a:spcAft>
            </a:pPr>
            <a:fld id="{4072BC8D-D296-40C7-BB87-C3ACFF7B6C6E}" type="slidenum">
              <a:rPr lang="en-US" smtClean="0"/>
              <a:pPr>
                <a:spcAft>
                  <a:spcPts val="600"/>
                </a:spcAft>
              </a:pPr>
              <a:t>4</a:t>
            </a:fld>
            <a:endParaRPr lang="en-US"/>
          </a:p>
        </p:txBody>
      </p:sp>
      <p:graphicFrame>
        <p:nvGraphicFramePr>
          <p:cNvPr id="11" name="Content Placeholder 2">
            <a:extLst>
              <a:ext uri="{FF2B5EF4-FFF2-40B4-BE49-F238E27FC236}">
                <a16:creationId xmlns:a16="http://schemas.microsoft.com/office/drawing/2014/main" id="{0EA46755-0BAA-2B05-9EB6-E40687159FD0}"/>
              </a:ext>
            </a:extLst>
          </p:cNvPr>
          <p:cNvGraphicFramePr>
            <a:graphicFrameLocks noGrp="1"/>
          </p:cNvGraphicFramePr>
          <p:nvPr>
            <p:ph idx="1"/>
            <p:extLst>
              <p:ext uri="{D42A27DB-BD31-4B8C-83A1-F6EECF244321}">
                <p14:modId xmlns:p14="http://schemas.microsoft.com/office/powerpoint/2010/main" val="3198424240"/>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7919884"/>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08B09-8BF3-F89F-54A0-F2FC87CDE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7B7E8-DDD5-7444-B7BA-3F1F8D603EAF}"/>
              </a:ext>
            </a:extLst>
          </p:cNvPr>
          <p:cNvSpPr>
            <a:spLocks noGrp="1"/>
          </p:cNvSpPr>
          <p:nvPr>
            <p:ph type="title"/>
          </p:nvPr>
        </p:nvSpPr>
        <p:spPr>
          <a:xfrm>
            <a:off x="913795" y="147791"/>
            <a:ext cx="10353761" cy="1326321"/>
          </a:xfrm>
        </p:spPr>
        <p:txBody>
          <a:bodyPr/>
          <a:lstStyle/>
          <a:p>
            <a:r>
              <a:rPr lang="en-US"/>
              <a:t>Outline</a:t>
            </a:r>
          </a:p>
        </p:txBody>
      </p:sp>
      <p:sp>
        <p:nvSpPr>
          <p:cNvPr id="3" name="Content Placeholder 2">
            <a:extLst>
              <a:ext uri="{FF2B5EF4-FFF2-40B4-BE49-F238E27FC236}">
                <a16:creationId xmlns:a16="http://schemas.microsoft.com/office/drawing/2014/main" id="{2CDE8356-0F15-C427-B39E-C0B0A8FD769D}"/>
              </a:ext>
            </a:extLst>
          </p:cNvPr>
          <p:cNvSpPr>
            <a:spLocks noGrp="1"/>
          </p:cNvSpPr>
          <p:nvPr>
            <p:ph idx="1"/>
          </p:nvPr>
        </p:nvSpPr>
        <p:spPr>
          <a:xfrm>
            <a:off x="913795" y="1016000"/>
            <a:ext cx="10353762" cy="4294909"/>
          </a:xfrm>
        </p:spPr>
        <p:txBody>
          <a:bodyPr>
            <a:noAutofit/>
          </a:bodyPr>
          <a:lstStyle/>
          <a:p>
            <a:r>
              <a:rPr lang="en-US" sz="3600">
                <a:solidFill>
                  <a:schemeClr val="tx1">
                    <a:lumMod val="85000"/>
                  </a:schemeClr>
                </a:solidFill>
              </a:rPr>
              <a:t>Problem Formulation</a:t>
            </a:r>
          </a:p>
          <a:p>
            <a:r>
              <a:rPr lang="en-US" sz="3600" b="1"/>
              <a:t>Standards, Ethics, and Broader Impacts</a:t>
            </a:r>
          </a:p>
          <a:p>
            <a:r>
              <a:rPr lang="en-US" sz="3600">
                <a:solidFill>
                  <a:schemeClr val="tx1">
                    <a:lumMod val="85000"/>
                  </a:schemeClr>
                </a:solidFill>
              </a:rPr>
              <a:t>Overview of Conceptual Design</a:t>
            </a:r>
          </a:p>
          <a:p>
            <a:r>
              <a:rPr lang="en-US" sz="3600">
                <a:solidFill>
                  <a:schemeClr val="tx1">
                    <a:lumMod val="85000"/>
                  </a:schemeClr>
                </a:solidFill>
              </a:rPr>
              <a:t>Detailed Design</a:t>
            </a:r>
          </a:p>
          <a:p>
            <a:r>
              <a:rPr lang="en-US" sz="3600">
                <a:solidFill>
                  <a:schemeClr val="tx1">
                    <a:lumMod val="85000"/>
                  </a:schemeClr>
                </a:solidFill>
              </a:rPr>
              <a:t>Implementation and Experimentation</a:t>
            </a:r>
          </a:p>
          <a:p>
            <a:r>
              <a:rPr lang="en-US" sz="3600">
                <a:solidFill>
                  <a:schemeClr val="tx1">
                    <a:lumMod val="85000"/>
                  </a:schemeClr>
                </a:solidFill>
              </a:rPr>
              <a:t>Demonstration</a:t>
            </a:r>
          </a:p>
          <a:p>
            <a:r>
              <a:rPr lang="en-US" sz="3600">
                <a:solidFill>
                  <a:schemeClr val="tx1">
                    <a:lumMod val="85000"/>
                  </a:schemeClr>
                </a:solidFill>
              </a:rPr>
              <a:t>Lessons Learned</a:t>
            </a:r>
          </a:p>
        </p:txBody>
      </p:sp>
      <p:sp>
        <p:nvSpPr>
          <p:cNvPr id="4" name="Slide Number Placeholder 3">
            <a:extLst>
              <a:ext uri="{FF2B5EF4-FFF2-40B4-BE49-F238E27FC236}">
                <a16:creationId xmlns:a16="http://schemas.microsoft.com/office/drawing/2014/main" id="{94A809CE-73B6-C6EE-71CD-A6CE341C6F8E}"/>
              </a:ext>
            </a:extLst>
          </p:cNvPr>
          <p:cNvSpPr>
            <a:spLocks noGrp="1"/>
          </p:cNvSpPr>
          <p:nvPr>
            <p:ph type="sldNum" sz="quarter" idx="12"/>
          </p:nvPr>
        </p:nvSpPr>
        <p:spPr/>
        <p:txBody>
          <a:bodyPr/>
          <a:lstStyle/>
          <a:p>
            <a:fld id="{4072BC8D-D296-40C7-BB87-C3ACFF7B6C6E}" type="slidenum">
              <a:rPr lang="en-US" smtClean="0"/>
              <a:pPr/>
              <a:t>5</a:t>
            </a:fld>
            <a:endParaRPr lang="en-US"/>
          </a:p>
        </p:txBody>
      </p:sp>
    </p:spTree>
    <p:extLst>
      <p:ext uri="{BB962C8B-B14F-4D97-AF65-F5344CB8AC3E}">
        <p14:creationId xmlns:p14="http://schemas.microsoft.com/office/powerpoint/2010/main" val="2572510198"/>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26" name="Picture 25" descr="Electronics protoboard">
            <a:extLst>
              <a:ext uri="{FF2B5EF4-FFF2-40B4-BE49-F238E27FC236}">
                <a16:creationId xmlns:a16="http://schemas.microsoft.com/office/drawing/2014/main" id="{9F62C31F-3935-0932-CEB3-B27C7351A6BA}"/>
              </a:ext>
            </a:extLst>
          </p:cNvPr>
          <p:cNvPicPr>
            <a:picLocks noChangeAspect="1"/>
          </p:cNvPicPr>
          <p:nvPr/>
        </p:nvPicPr>
        <p:blipFill>
          <a:blip r:embed="rId3">
            <a:alphaModFix amt="35000"/>
          </a:blip>
          <a:srcRect t="15755"/>
          <a:stretch>
            <a:fillRect/>
          </a:stretch>
        </p:blipFill>
        <p:spPr>
          <a:xfrm>
            <a:off x="20" y="2030"/>
            <a:ext cx="12191980" cy="6855970"/>
          </a:xfrm>
          <a:prstGeom prst="rect">
            <a:avLst/>
          </a:prstGeom>
        </p:spPr>
      </p:pic>
      <p:sp>
        <p:nvSpPr>
          <p:cNvPr id="27" name="Rectangle 26">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1140C70A-B437-4ACD-B27B-385572984D32}"/>
              </a:ext>
            </a:extLst>
          </p:cNvPr>
          <p:cNvSpPr>
            <a:spLocks noGrp="1"/>
          </p:cNvSpPr>
          <p:nvPr>
            <p:ph type="title"/>
          </p:nvPr>
        </p:nvSpPr>
        <p:spPr>
          <a:xfrm>
            <a:off x="913795" y="609600"/>
            <a:ext cx="10353761" cy="1326321"/>
          </a:xfrm>
        </p:spPr>
        <p:txBody>
          <a:bodyPr>
            <a:normAutofit/>
          </a:bodyPr>
          <a:lstStyle/>
          <a:p>
            <a:r>
              <a:rPr lang="en-US"/>
              <a:t>Standards, Ethics, and Broader Impacts</a:t>
            </a:r>
          </a:p>
        </p:txBody>
      </p:sp>
      <p:sp>
        <p:nvSpPr>
          <p:cNvPr id="28" name="Content Placeholder 2">
            <a:extLst>
              <a:ext uri="{FF2B5EF4-FFF2-40B4-BE49-F238E27FC236}">
                <a16:creationId xmlns:a16="http://schemas.microsoft.com/office/drawing/2014/main" id="{DF77CD58-8C23-4F84-81E9-EFD1CF9FFB7E}"/>
              </a:ext>
            </a:extLst>
          </p:cNvPr>
          <p:cNvSpPr>
            <a:spLocks noGrp="1"/>
          </p:cNvSpPr>
          <p:nvPr>
            <p:ph idx="1"/>
          </p:nvPr>
        </p:nvSpPr>
        <p:spPr>
          <a:xfrm>
            <a:off x="913795" y="2096064"/>
            <a:ext cx="10353762" cy="3695136"/>
          </a:xfrm>
        </p:spPr>
        <p:txBody>
          <a:bodyPr vert="horz" lIns="91440" tIns="45720" rIns="91440" bIns="45720" rtlCol="0" anchor="t">
            <a:normAutofit fontScale="77500" lnSpcReduction="20000"/>
          </a:bodyPr>
          <a:lstStyle/>
          <a:p>
            <a:pPr>
              <a:lnSpc>
                <a:spcPct val="110000"/>
              </a:lnSpc>
            </a:pPr>
            <a:r>
              <a:rPr lang="en-US" sz="2600"/>
              <a:t>Standards Considered: Adhered to FCC Part 15 (EMI limits), UL 2054 (battery safety), NEC/NFPA 70 (low-voltage wiring), ANSI Z535.4 (safety labels), Section 508 (accessibility), IEEE 802.15.4 (wireless communication), ASTM F963 (toy safety), UL 60950-1 (IT equipment), WCAG 2.1 (voice interfaces), ISO/IEC 27001 (data security).</a:t>
            </a:r>
          </a:p>
          <a:p>
            <a:pPr>
              <a:lnSpc>
                <a:spcPct val="110000"/>
              </a:lnSpc>
            </a:pPr>
            <a:r>
              <a:rPr lang="en-US" sz="2600"/>
              <a:t>Ethical Considerations: Prioritized privacy via on-device voice processing; ensured accessibility equity with diverse voice datasets; credited o</a:t>
            </a:r>
            <a:r>
              <a:rPr lang="en-US" sz="2400"/>
              <a:t>pen-source IP (e.g., Stockfish); promoted fair team collaboration per ACM Code of Ethics.</a:t>
            </a:r>
            <a:r>
              <a:rPr lang="en-US" sz="2600"/>
              <a:t>            </a:t>
            </a:r>
          </a:p>
          <a:p>
            <a:pPr>
              <a:lnSpc>
                <a:spcPct val="110000"/>
              </a:lnSpc>
            </a:pPr>
            <a:r>
              <a:rPr lang="en-US" sz="2600"/>
              <a:t>Broader Impacts: Enhances public health/safety via therapeutic, contactless play; promotes cultural/societal equity in chess access; minimizes environmental e-waste through modular design; supports economic innovation with open-source, low-cost replicability for hobbyists.  </a:t>
            </a:r>
            <a:r>
              <a:rPr lang="en-US" sz="1700"/>
              <a:t>                                 </a:t>
            </a:r>
          </a:p>
        </p:txBody>
      </p:sp>
      <p:sp>
        <p:nvSpPr>
          <p:cNvPr id="4" name="Slide Number Placeholder 3">
            <a:extLst>
              <a:ext uri="{FF2B5EF4-FFF2-40B4-BE49-F238E27FC236}">
                <a16:creationId xmlns:a16="http://schemas.microsoft.com/office/drawing/2014/main" id="{3A2163C4-832F-47D3-8914-3DD222313853}"/>
              </a:ext>
            </a:extLst>
          </p:cNvPr>
          <p:cNvSpPr>
            <a:spLocks noGrp="1"/>
          </p:cNvSpPr>
          <p:nvPr>
            <p:ph type="sldNum" sz="quarter" idx="12"/>
          </p:nvPr>
        </p:nvSpPr>
        <p:spPr>
          <a:xfrm>
            <a:off x="10514011" y="5883275"/>
            <a:ext cx="753545" cy="365125"/>
          </a:xfrm>
        </p:spPr>
        <p:txBody>
          <a:bodyPr>
            <a:normAutofit/>
          </a:bodyPr>
          <a:lstStyle/>
          <a:p>
            <a:pPr>
              <a:spcAft>
                <a:spcPts val="600"/>
              </a:spcAft>
            </a:pPr>
            <a:fld id="{4072BC8D-D296-40C7-BB87-C3ACFF7B6C6E}" type="slidenum">
              <a:rPr lang="en-US" smtClean="0"/>
              <a:pPr>
                <a:spcAft>
                  <a:spcPts val="600"/>
                </a:spcAft>
              </a:pPr>
              <a:t>6</a:t>
            </a:fld>
            <a:endParaRPr lang="en-US"/>
          </a:p>
        </p:txBody>
      </p:sp>
    </p:spTree>
    <p:extLst>
      <p:ext uri="{BB962C8B-B14F-4D97-AF65-F5344CB8AC3E}">
        <p14:creationId xmlns:p14="http://schemas.microsoft.com/office/powerpoint/2010/main" val="87416766"/>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A02EC-77B3-662C-B394-B5CD358ED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9F314-DA38-3032-F757-4CB5908CE96F}"/>
              </a:ext>
            </a:extLst>
          </p:cNvPr>
          <p:cNvSpPr>
            <a:spLocks noGrp="1"/>
          </p:cNvSpPr>
          <p:nvPr>
            <p:ph type="title"/>
          </p:nvPr>
        </p:nvSpPr>
        <p:spPr>
          <a:xfrm>
            <a:off x="913795" y="147791"/>
            <a:ext cx="10353761" cy="1326321"/>
          </a:xfrm>
        </p:spPr>
        <p:txBody>
          <a:bodyPr/>
          <a:lstStyle/>
          <a:p>
            <a:r>
              <a:rPr lang="en-US"/>
              <a:t>Outline</a:t>
            </a:r>
          </a:p>
        </p:txBody>
      </p:sp>
      <p:sp>
        <p:nvSpPr>
          <p:cNvPr id="3" name="Content Placeholder 2">
            <a:extLst>
              <a:ext uri="{FF2B5EF4-FFF2-40B4-BE49-F238E27FC236}">
                <a16:creationId xmlns:a16="http://schemas.microsoft.com/office/drawing/2014/main" id="{CD9B586D-2E95-3FFC-AFB5-D33F91604407}"/>
              </a:ext>
            </a:extLst>
          </p:cNvPr>
          <p:cNvSpPr>
            <a:spLocks noGrp="1"/>
          </p:cNvSpPr>
          <p:nvPr>
            <p:ph idx="1"/>
          </p:nvPr>
        </p:nvSpPr>
        <p:spPr>
          <a:xfrm>
            <a:off x="913795" y="1016000"/>
            <a:ext cx="10353762" cy="4294909"/>
          </a:xfrm>
        </p:spPr>
        <p:txBody>
          <a:bodyPr>
            <a:noAutofit/>
          </a:bodyPr>
          <a:lstStyle/>
          <a:p>
            <a:r>
              <a:rPr lang="en-US" sz="3600">
                <a:solidFill>
                  <a:schemeClr val="tx1">
                    <a:lumMod val="85000"/>
                  </a:schemeClr>
                </a:solidFill>
              </a:rPr>
              <a:t>Problem Formulation</a:t>
            </a:r>
          </a:p>
          <a:p>
            <a:r>
              <a:rPr lang="en-US" sz="3600">
                <a:solidFill>
                  <a:schemeClr val="tx1">
                    <a:lumMod val="85000"/>
                  </a:schemeClr>
                </a:solidFill>
              </a:rPr>
              <a:t>Standards, Ethics, and Broader Impacts</a:t>
            </a:r>
          </a:p>
          <a:p>
            <a:r>
              <a:rPr lang="en-US" sz="3600" b="1"/>
              <a:t>Overview of Conceptual Design</a:t>
            </a:r>
          </a:p>
          <a:p>
            <a:r>
              <a:rPr lang="en-US" sz="3600">
                <a:solidFill>
                  <a:schemeClr val="tx1">
                    <a:lumMod val="85000"/>
                  </a:schemeClr>
                </a:solidFill>
              </a:rPr>
              <a:t>Detailed Design</a:t>
            </a:r>
          </a:p>
          <a:p>
            <a:r>
              <a:rPr lang="en-US" sz="3600">
                <a:solidFill>
                  <a:schemeClr val="tx1">
                    <a:lumMod val="85000"/>
                  </a:schemeClr>
                </a:solidFill>
              </a:rPr>
              <a:t>Implementation and Experimentation</a:t>
            </a:r>
          </a:p>
          <a:p>
            <a:r>
              <a:rPr lang="en-US" sz="3600">
                <a:solidFill>
                  <a:schemeClr val="tx1">
                    <a:lumMod val="85000"/>
                  </a:schemeClr>
                </a:solidFill>
              </a:rPr>
              <a:t>Demonstration</a:t>
            </a:r>
          </a:p>
          <a:p>
            <a:r>
              <a:rPr lang="en-US" sz="3600">
                <a:solidFill>
                  <a:schemeClr val="tx1">
                    <a:lumMod val="85000"/>
                  </a:schemeClr>
                </a:solidFill>
              </a:rPr>
              <a:t>Lessons Learned</a:t>
            </a:r>
          </a:p>
        </p:txBody>
      </p:sp>
      <p:sp>
        <p:nvSpPr>
          <p:cNvPr id="4" name="Slide Number Placeholder 3">
            <a:extLst>
              <a:ext uri="{FF2B5EF4-FFF2-40B4-BE49-F238E27FC236}">
                <a16:creationId xmlns:a16="http://schemas.microsoft.com/office/drawing/2014/main" id="{608EF281-FCA3-96BD-2466-E219EF86C8FD}"/>
              </a:ext>
            </a:extLst>
          </p:cNvPr>
          <p:cNvSpPr>
            <a:spLocks noGrp="1"/>
          </p:cNvSpPr>
          <p:nvPr>
            <p:ph type="sldNum" sz="quarter" idx="12"/>
          </p:nvPr>
        </p:nvSpPr>
        <p:spPr/>
        <p:txBody>
          <a:bodyPr/>
          <a:lstStyle/>
          <a:p>
            <a:fld id="{4072BC8D-D296-40C7-BB87-C3ACFF7B6C6E}" type="slidenum">
              <a:rPr lang="en-US" smtClean="0"/>
              <a:pPr/>
              <a:t>7</a:t>
            </a:fld>
            <a:endParaRPr lang="en-US"/>
          </a:p>
        </p:txBody>
      </p:sp>
    </p:spTree>
    <p:extLst>
      <p:ext uri="{BB962C8B-B14F-4D97-AF65-F5344CB8AC3E}">
        <p14:creationId xmlns:p14="http://schemas.microsoft.com/office/powerpoint/2010/main" val="28374586"/>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511925CF-229E-7731-CBE9-151123AA66A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7A59776-5948-400C-9935-7464561E87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E668AB-AB55-70A9-FD28-4EDBA247F089}"/>
              </a:ext>
            </a:extLst>
          </p:cNvPr>
          <p:cNvSpPr>
            <a:spLocks noGrp="1"/>
          </p:cNvSpPr>
          <p:nvPr>
            <p:ph type="title"/>
          </p:nvPr>
        </p:nvSpPr>
        <p:spPr>
          <a:xfrm>
            <a:off x="895353" y="609600"/>
            <a:ext cx="3108960" cy="2362610"/>
          </a:xfrm>
        </p:spPr>
        <p:txBody>
          <a:bodyPr>
            <a:normAutofit/>
          </a:bodyPr>
          <a:lstStyle/>
          <a:p>
            <a:pPr algn="r"/>
            <a:r>
              <a:rPr lang="en-US" sz="2800"/>
              <a:t>Conceptual Design</a:t>
            </a:r>
          </a:p>
        </p:txBody>
      </p:sp>
      <p:sp>
        <p:nvSpPr>
          <p:cNvPr id="3" name="Content Placeholder 2">
            <a:extLst>
              <a:ext uri="{FF2B5EF4-FFF2-40B4-BE49-F238E27FC236}">
                <a16:creationId xmlns:a16="http://schemas.microsoft.com/office/drawing/2014/main" id="{3510CC78-C3F9-BCD9-2D5C-7DD0CBF7A0D8}"/>
              </a:ext>
            </a:extLst>
          </p:cNvPr>
          <p:cNvSpPr>
            <a:spLocks noGrp="1"/>
          </p:cNvSpPr>
          <p:nvPr>
            <p:ph idx="1"/>
          </p:nvPr>
        </p:nvSpPr>
        <p:spPr>
          <a:xfrm>
            <a:off x="4537923" y="609601"/>
            <a:ext cx="6628583" cy="2362610"/>
          </a:xfrm>
        </p:spPr>
        <p:txBody>
          <a:bodyPr anchor="ctr">
            <a:normAutofit/>
          </a:bodyPr>
          <a:lstStyle/>
          <a:p>
            <a:r>
              <a:rPr lang="en-US" sz="1800"/>
              <a:t>Finding the best solution to solve the specifications and constraints.</a:t>
            </a:r>
          </a:p>
          <a:p>
            <a:r>
              <a:rPr lang="en-US" sz="1800"/>
              <a:t>Main Problem: How can chess pieces move completely hands-free in a way that is low-cost, visually appealing, and safe?</a:t>
            </a:r>
          </a:p>
          <a:p>
            <a:endParaRPr lang="en-US" sz="1800"/>
          </a:p>
        </p:txBody>
      </p:sp>
      <p:pic>
        <p:nvPicPr>
          <p:cNvPr id="8" name="Picture 7" descr="A chess board with wood pieces on top&#10;&#10;AI-generated content may be incorrect.">
            <a:extLst>
              <a:ext uri="{FF2B5EF4-FFF2-40B4-BE49-F238E27FC236}">
                <a16:creationId xmlns:a16="http://schemas.microsoft.com/office/drawing/2014/main" id="{01C9108D-92F1-4F0E-418A-BADBC0A15A68}"/>
              </a:ext>
            </a:extLst>
          </p:cNvPr>
          <p:cNvPicPr>
            <a:picLocks noChangeAspect="1"/>
          </p:cNvPicPr>
          <p:nvPr/>
        </p:nvPicPr>
        <p:blipFill>
          <a:blip r:embed="rId3">
            <a:extLst>
              <a:ext uri="{28A0092B-C50C-407E-A947-70E740481C1C}">
                <a14:useLocalDpi xmlns:a14="http://schemas.microsoft.com/office/drawing/2010/main" val="0"/>
              </a:ext>
            </a:extLst>
          </a:blip>
          <a:srcRect l="6430" r="2" b="2"/>
          <a:stretch>
            <a:fillRect/>
          </a:stretch>
        </p:blipFill>
        <p:spPr>
          <a:xfrm>
            <a:off x="895352" y="3225959"/>
            <a:ext cx="3340921" cy="2677887"/>
          </a:xfrm>
          <a:prstGeom prst="roundRect">
            <a:avLst>
              <a:gd name="adj" fmla="val 0"/>
            </a:avLst>
          </a:prstGeom>
          <a:ln w="38100">
            <a:solidFill>
              <a:schemeClr val="tx1"/>
            </a:solidFill>
          </a:ln>
          <a:effectLst>
            <a:innerShdw blurRad="57150" dist="38100" dir="14460000">
              <a:srgbClr val="000000">
                <a:alpha val="70000"/>
              </a:srgbClr>
            </a:innerShdw>
          </a:effectLst>
        </p:spPr>
      </p:pic>
      <p:pic>
        <p:nvPicPr>
          <p:cNvPr id="10" name="Picture 9" descr="A close-up of a robotic arm&#10;&#10;AI-generated content may be incorrect.">
            <a:extLst>
              <a:ext uri="{FF2B5EF4-FFF2-40B4-BE49-F238E27FC236}">
                <a16:creationId xmlns:a16="http://schemas.microsoft.com/office/drawing/2014/main" id="{239BE947-1991-1E23-2D19-D538CF18BAD3}"/>
              </a:ext>
            </a:extLst>
          </p:cNvPr>
          <p:cNvPicPr>
            <a:picLocks noChangeAspect="1"/>
          </p:cNvPicPr>
          <p:nvPr/>
        </p:nvPicPr>
        <p:blipFill>
          <a:blip r:embed="rId4">
            <a:extLst>
              <a:ext uri="{28A0092B-C50C-407E-A947-70E740481C1C}">
                <a14:useLocalDpi xmlns:a14="http://schemas.microsoft.com/office/drawing/2010/main" val="0"/>
              </a:ext>
            </a:extLst>
          </a:blip>
          <a:srcRect t="15612" r="-2" b="4419"/>
          <a:stretch>
            <a:fillRect/>
          </a:stretch>
        </p:blipFill>
        <p:spPr>
          <a:xfrm>
            <a:off x="4413020" y="3225959"/>
            <a:ext cx="3337560" cy="2677887"/>
          </a:xfrm>
          <a:prstGeom prst="roundRect">
            <a:avLst>
              <a:gd name="adj" fmla="val 0"/>
            </a:avLst>
          </a:prstGeom>
          <a:ln w="38100">
            <a:solidFill>
              <a:schemeClr val="tx1"/>
            </a:solidFill>
          </a:ln>
          <a:effectLst>
            <a:innerShdw blurRad="57150" dist="38100" dir="14460000">
              <a:srgbClr val="000000">
                <a:alpha val="70000"/>
              </a:srgbClr>
            </a:innerShdw>
          </a:effectLst>
        </p:spPr>
      </p:pic>
      <p:pic>
        <p:nvPicPr>
          <p:cNvPr id="6" name="Picture 5" descr="A close-up of a machine&#10;&#10;AI-generated content may be incorrect.">
            <a:extLst>
              <a:ext uri="{FF2B5EF4-FFF2-40B4-BE49-F238E27FC236}">
                <a16:creationId xmlns:a16="http://schemas.microsoft.com/office/drawing/2014/main" id="{6646C77F-6755-E22E-AC89-A13123427AFC}"/>
              </a:ext>
            </a:extLst>
          </p:cNvPr>
          <p:cNvPicPr>
            <a:picLocks noChangeAspect="1"/>
          </p:cNvPicPr>
          <p:nvPr/>
        </p:nvPicPr>
        <p:blipFill>
          <a:blip r:embed="rId5">
            <a:extLst>
              <a:ext uri="{28A0092B-C50C-407E-A947-70E740481C1C}">
                <a14:useLocalDpi xmlns:a14="http://schemas.microsoft.com/office/drawing/2010/main" val="0"/>
              </a:ext>
            </a:extLst>
          </a:blip>
          <a:srcRect l="17792" r="28303" b="-1"/>
          <a:stretch>
            <a:fillRect/>
          </a:stretch>
        </p:blipFill>
        <p:spPr>
          <a:xfrm>
            <a:off x="7927327" y="3225959"/>
            <a:ext cx="3337560" cy="2677887"/>
          </a:xfrm>
          <a:prstGeom prst="roundRect">
            <a:avLst>
              <a:gd name="adj" fmla="val 0"/>
            </a:avLst>
          </a:prstGeom>
          <a:ln w="38100">
            <a:solidFill>
              <a:schemeClr val="tx1"/>
            </a:soli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EF75A646-C796-B18D-638D-A311332030CD}"/>
              </a:ext>
            </a:extLst>
          </p:cNvPr>
          <p:cNvSpPr>
            <a:spLocks noGrp="1"/>
          </p:cNvSpPr>
          <p:nvPr>
            <p:ph type="sldNum" sz="quarter" idx="12"/>
          </p:nvPr>
        </p:nvSpPr>
        <p:spPr>
          <a:xfrm>
            <a:off x="10514012" y="6157595"/>
            <a:ext cx="551167" cy="365125"/>
          </a:xfrm>
        </p:spPr>
        <p:txBody>
          <a:bodyPr>
            <a:normAutofit/>
          </a:bodyPr>
          <a:lstStyle/>
          <a:p>
            <a:pPr>
              <a:spcAft>
                <a:spcPts val="600"/>
              </a:spcAft>
            </a:pPr>
            <a:fld id="{4072BC8D-D296-40C7-BB87-C3ACFF7B6C6E}" type="slidenum">
              <a:rPr lang="en-US" smtClean="0"/>
              <a:pPr>
                <a:spcAft>
                  <a:spcPts val="600"/>
                </a:spcAft>
              </a:pPr>
              <a:t>8</a:t>
            </a:fld>
            <a:endParaRPr lang="en-US"/>
          </a:p>
        </p:txBody>
      </p:sp>
      <p:sp>
        <p:nvSpPr>
          <p:cNvPr id="11" name="TextBox 10">
            <a:extLst>
              <a:ext uri="{FF2B5EF4-FFF2-40B4-BE49-F238E27FC236}">
                <a16:creationId xmlns:a16="http://schemas.microsoft.com/office/drawing/2014/main" id="{60565FA8-993F-8111-F5E7-B1EEF73D449C}"/>
              </a:ext>
            </a:extLst>
          </p:cNvPr>
          <p:cNvSpPr txBox="1"/>
          <p:nvPr/>
        </p:nvSpPr>
        <p:spPr>
          <a:xfrm>
            <a:off x="1028610" y="2801428"/>
            <a:ext cx="2842445" cy="307777"/>
          </a:xfrm>
          <a:prstGeom prst="rect">
            <a:avLst/>
          </a:prstGeom>
          <a:noFill/>
        </p:spPr>
        <p:txBody>
          <a:bodyPr wrap="none" rtlCol="0">
            <a:spAutoFit/>
          </a:bodyPr>
          <a:lstStyle/>
          <a:p>
            <a:r>
              <a:rPr lang="en-US" sz="1400" b="1" i="1"/>
              <a:t>Individual Micro-Robot System</a:t>
            </a:r>
            <a:endParaRPr lang="en-US" sz="1400"/>
          </a:p>
        </p:txBody>
      </p:sp>
      <p:sp>
        <p:nvSpPr>
          <p:cNvPr id="14" name="TextBox 13">
            <a:extLst>
              <a:ext uri="{FF2B5EF4-FFF2-40B4-BE49-F238E27FC236}">
                <a16:creationId xmlns:a16="http://schemas.microsoft.com/office/drawing/2014/main" id="{30F24C35-DF6B-96F3-780D-9D6FB1AA743E}"/>
              </a:ext>
            </a:extLst>
          </p:cNvPr>
          <p:cNvSpPr txBox="1"/>
          <p:nvPr/>
        </p:nvSpPr>
        <p:spPr>
          <a:xfrm>
            <a:off x="4567218" y="2807528"/>
            <a:ext cx="3029163" cy="307777"/>
          </a:xfrm>
          <a:prstGeom prst="rect">
            <a:avLst/>
          </a:prstGeom>
          <a:noFill/>
        </p:spPr>
        <p:txBody>
          <a:bodyPr wrap="none" rtlCol="0">
            <a:spAutoFit/>
          </a:bodyPr>
          <a:lstStyle/>
          <a:p>
            <a:r>
              <a:rPr lang="en-US" sz="1400" b="1" i="1"/>
              <a:t>Robotic Arm Manipulator System</a:t>
            </a:r>
            <a:endParaRPr lang="en-US" sz="1400"/>
          </a:p>
        </p:txBody>
      </p:sp>
      <p:sp>
        <p:nvSpPr>
          <p:cNvPr id="16" name="TextBox 15">
            <a:extLst>
              <a:ext uri="{FF2B5EF4-FFF2-40B4-BE49-F238E27FC236}">
                <a16:creationId xmlns:a16="http://schemas.microsoft.com/office/drawing/2014/main" id="{D51CB63C-47FD-192F-99EA-B779BEC2D06A}"/>
              </a:ext>
            </a:extLst>
          </p:cNvPr>
          <p:cNvSpPr txBox="1"/>
          <p:nvPr/>
        </p:nvSpPr>
        <p:spPr>
          <a:xfrm>
            <a:off x="8519530" y="2818321"/>
            <a:ext cx="2153154" cy="307777"/>
          </a:xfrm>
          <a:prstGeom prst="rect">
            <a:avLst/>
          </a:prstGeom>
          <a:noFill/>
        </p:spPr>
        <p:txBody>
          <a:bodyPr wrap="none" rtlCol="0">
            <a:spAutoFit/>
          </a:bodyPr>
          <a:lstStyle/>
          <a:p>
            <a:r>
              <a:rPr lang="en-US" sz="1400" b="1" i="1" err="1"/>
              <a:t>CoreXY</a:t>
            </a:r>
            <a:r>
              <a:rPr lang="en-US" sz="1400" b="1" i="1"/>
              <a:t> Motion System</a:t>
            </a:r>
            <a:endParaRPr lang="en-US" sz="1400"/>
          </a:p>
        </p:txBody>
      </p:sp>
      <p:sp>
        <p:nvSpPr>
          <p:cNvPr id="17" name="TextBox 16">
            <a:extLst>
              <a:ext uri="{FF2B5EF4-FFF2-40B4-BE49-F238E27FC236}">
                <a16:creationId xmlns:a16="http://schemas.microsoft.com/office/drawing/2014/main" id="{5B968BA6-4301-36E6-74F9-3E4C907FEA4D}"/>
              </a:ext>
            </a:extLst>
          </p:cNvPr>
          <p:cNvSpPr txBox="1"/>
          <p:nvPr/>
        </p:nvSpPr>
        <p:spPr>
          <a:xfrm>
            <a:off x="895352" y="6156917"/>
            <a:ext cx="1845120" cy="369332"/>
          </a:xfrm>
          <a:prstGeom prst="rect">
            <a:avLst/>
          </a:prstGeom>
          <a:noFill/>
        </p:spPr>
        <p:txBody>
          <a:bodyPr wrap="none" rtlCol="0">
            <a:spAutoFit/>
          </a:bodyPr>
          <a:lstStyle/>
          <a:p>
            <a:r>
              <a:rPr lang="en-US"/>
              <a:t>Very Expensive</a:t>
            </a:r>
          </a:p>
        </p:txBody>
      </p:sp>
      <p:sp>
        <p:nvSpPr>
          <p:cNvPr id="18" name="TextBox 17">
            <a:extLst>
              <a:ext uri="{FF2B5EF4-FFF2-40B4-BE49-F238E27FC236}">
                <a16:creationId xmlns:a16="http://schemas.microsoft.com/office/drawing/2014/main" id="{78C2BE7C-CD64-EC3C-1F6C-466F8497917E}"/>
              </a:ext>
            </a:extLst>
          </p:cNvPr>
          <p:cNvSpPr txBox="1"/>
          <p:nvPr/>
        </p:nvSpPr>
        <p:spPr>
          <a:xfrm>
            <a:off x="4413020" y="6140378"/>
            <a:ext cx="2038828" cy="369332"/>
          </a:xfrm>
          <a:prstGeom prst="rect">
            <a:avLst/>
          </a:prstGeom>
          <a:noFill/>
        </p:spPr>
        <p:txBody>
          <a:bodyPr wrap="none" rtlCol="0">
            <a:spAutoFit/>
          </a:bodyPr>
          <a:lstStyle/>
          <a:p>
            <a:r>
              <a:rPr lang="en-US"/>
              <a:t>Bulky, Slow, Noisy</a:t>
            </a:r>
          </a:p>
        </p:txBody>
      </p:sp>
      <p:sp>
        <p:nvSpPr>
          <p:cNvPr id="19" name="TextBox 18">
            <a:extLst>
              <a:ext uri="{FF2B5EF4-FFF2-40B4-BE49-F238E27FC236}">
                <a16:creationId xmlns:a16="http://schemas.microsoft.com/office/drawing/2014/main" id="{D254659A-8ED7-20FF-D552-55180104D9B2}"/>
              </a:ext>
            </a:extLst>
          </p:cNvPr>
          <p:cNvSpPr txBox="1"/>
          <p:nvPr/>
        </p:nvSpPr>
        <p:spPr>
          <a:xfrm>
            <a:off x="7852214" y="6156917"/>
            <a:ext cx="2294924" cy="369332"/>
          </a:xfrm>
          <a:prstGeom prst="rect">
            <a:avLst/>
          </a:prstGeom>
          <a:noFill/>
        </p:spPr>
        <p:txBody>
          <a:bodyPr wrap="none" rtlCol="0">
            <a:spAutoFit/>
          </a:bodyPr>
          <a:lstStyle/>
          <a:p>
            <a:r>
              <a:rPr lang="en-US"/>
              <a:t>Hidden, Fast, Cheap</a:t>
            </a:r>
          </a:p>
        </p:txBody>
      </p:sp>
      <p:sp>
        <p:nvSpPr>
          <p:cNvPr id="20" name="&quot;Not Allowed&quot; Symbol 19">
            <a:extLst>
              <a:ext uri="{FF2B5EF4-FFF2-40B4-BE49-F238E27FC236}">
                <a16:creationId xmlns:a16="http://schemas.microsoft.com/office/drawing/2014/main" id="{6F292AF5-BB78-573B-35E5-F439E9FD6D08}"/>
              </a:ext>
            </a:extLst>
          </p:cNvPr>
          <p:cNvSpPr/>
          <p:nvPr/>
        </p:nvSpPr>
        <p:spPr>
          <a:xfrm>
            <a:off x="2740472" y="6079154"/>
            <a:ext cx="452110" cy="491779"/>
          </a:xfrm>
          <a:prstGeom prst="noSmoking">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quot;Not Allowed&quot; Symbol 20">
            <a:extLst>
              <a:ext uri="{FF2B5EF4-FFF2-40B4-BE49-F238E27FC236}">
                <a16:creationId xmlns:a16="http://schemas.microsoft.com/office/drawing/2014/main" id="{7EB9BB9E-F6BF-2C2C-497F-7400BAB83B37}"/>
              </a:ext>
            </a:extLst>
          </p:cNvPr>
          <p:cNvSpPr/>
          <p:nvPr/>
        </p:nvSpPr>
        <p:spPr>
          <a:xfrm>
            <a:off x="6451848" y="6079153"/>
            <a:ext cx="452110" cy="491779"/>
          </a:xfrm>
          <a:prstGeom prst="noSmoking">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3" name="Graphic 22" descr="Checkmark with solid fill">
            <a:extLst>
              <a:ext uri="{FF2B5EF4-FFF2-40B4-BE49-F238E27FC236}">
                <a16:creationId xmlns:a16="http://schemas.microsoft.com/office/drawing/2014/main" id="{02FB07C1-E21D-5AD6-719D-4E25EB5ECF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63224" y="6080840"/>
            <a:ext cx="490092" cy="490092"/>
          </a:xfrm>
          <a:prstGeom prst="rect">
            <a:avLst/>
          </a:prstGeom>
        </p:spPr>
      </p:pic>
    </p:spTree>
    <p:extLst>
      <p:ext uri="{BB962C8B-B14F-4D97-AF65-F5344CB8AC3E}">
        <p14:creationId xmlns:p14="http://schemas.microsoft.com/office/powerpoint/2010/main" val="153146968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7FDADFBD-0D46-CA97-5CE0-8DF4FB465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2E907-F26B-ED52-53FA-3F768C32367C}"/>
              </a:ext>
            </a:extLst>
          </p:cNvPr>
          <p:cNvSpPr>
            <a:spLocks noGrp="1"/>
          </p:cNvSpPr>
          <p:nvPr>
            <p:ph type="title"/>
          </p:nvPr>
        </p:nvSpPr>
        <p:spPr>
          <a:xfrm>
            <a:off x="245807" y="4640827"/>
            <a:ext cx="2476086" cy="1737360"/>
          </a:xfrm>
        </p:spPr>
        <p:txBody>
          <a:bodyPr>
            <a:normAutofit/>
          </a:bodyPr>
          <a:lstStyle/>
          <a:p>
            <a:pPr algn="r"/>
            <a:r>
              <a:rPr lang="en-US" sz="1800"/>
              <a:t>Chess Board </a:t>
            </a:r>
            <a:br>
              <a:rPr lang="en-US" sz="1800"/>
            </a:br>
            <a:r>
              <a:rPr lang="en-US" sz="1800"/>
              <a:t>Block Diagram</a:t>
            </a:r>
          </a:p>
        </p:txBody>
      </p:sp>
      <p:pic>
        <p:nvPicPr>
          <p:cNvPr id="6" name="Picture 5" descr="A diagram of a diagram&#10;&#10;AI-generated content may be incorrect.">
            <a:extLst>
              <a:ext uri="{FF2B5EF4-FFF2-40B4-BE49-F238E27FC236}">
                <a16:creationId xmlns:a16="http://schemas.microsoft.com/office/drawing/2014/main" id="{690067BC-4511-5FAB-2E9F-273275614D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0623" y="171886"/>
            <a:ext cx="8730753" cy="4343550"/>
          </a:xfrm>
          <a:prstGeom prst="rect">
            <a:avLst/>
          </a:prstGeom>
        </p:spPr>
      </p:pic>
      <p:sp>
        <p:nvSpPr>
          <p:cNvPr id="3" name="Content Placeholder 2">
            <a:extLst>
              <a:ext uri="{FF2B5EF4-FFF2-40B4-BE49-F238E27FC236}">
                <a16:creationId xmlns:a16="http://schemas.microsoft.com/office/drawing/2014/main" id="{AFAD9207-EB0A-8FB1-B1A9-DFCEF519EACD}"/>
              </a:ext>
            </a:extLst>
          </p:cNvPr>
          <p:cNvSpPr>
            <a:spLocks noGrp="1"/>
          </p:cNvSpPr>
          <p:nvPr>
            <p:ph idx="1"/>
          </p:nvPr>
        </p:nvSpPr>
        <p:spPr>
          <a:xfrm>
            <a:off x="2812025" y="4571999"/>
            <a:ext cx="9134167" cy="2114115"/>
          </a:xfrm>
        </p:spPr>
        <p:txBody>
          <a:bodyPr anchor="ctr">
            <a:noAutofit/>
          </a:bodyPr>
          <a:lstStyle/>
          <a:p>
            <a:pPr marL="0" indent="0">
              <a:buNone/>
            </a:pPr>
            <a:r>
              <a:rPr lang="en-US" sz="1400" b="1" u="sng"/>
              <a:t>Five Different Subsystems</a:t>
            </a:r>
          </a:p>
          <a:p>
            <a:r>
              <a:rPr lang="en-US" sz="1400"/>
              <a:t>Processing Unit: Handles speech recognition, move validation, AI, and board state.</a:t>
            </a:r>
          </a:p>
          <a:p>
            <a:r>
              <a:rPr lang="en-US" sz="1400"/>
              <a:t>Control Unit: Directs and coordinates piece movement.</a:t>
            </a:r>
          </a:p>
          <a:p>
            <a:r>
              <a:rPr lang="en-US" sz="1400" err="1"/>
              <a:t>CoreXY</a:t>
            </a:r>
            <a:r>
              <a:rPr lang="en-US" sz="1400"/>
              <a:t> Unit: Mechanically moves chess pieces and uses a magnet mechanism to hold a piece.</a:t>
            </a:r>
          </a:p>
          <a:p>
            <a:r>
              <a:rPr lang="en-US" sz="1400"/>
              <a:t>Power Unit: Powers all motors and electronics.</a:t>
            </a:r>
          </a:p>
          <a:p>
            <a:r>
              <a:rPr lang="en-US" sz="1400"/>
              <a:t>Peripheral Unit: Physical board, pieces, microphone, and display.</a:t>
            </a:r>
          </a:p>
        </p:txBody>
      </p:sp>
      <p:sp>
        <p:nvSpPr>
          <p:cNvPr id="4" name="Slide Number Placeholder 3">
            <a:extLst>
              <a:ext uri="{FF2B5EF4-FFF2-40B4-BE49-F238E27FC236}">
                <a16:creationId xmlns:a16="http://schemas.microsoft.com/office/drawing/2014/main" id="{A4DF9CFB-04DC-F75C-5C9E-8E4177D2BB0A}"/>
              </a:ext>
            </a:extLst>
          </p:cNvPr>
          <p:cNvSpPr>
            <a:spLocks noGrp="1"/>
          </p:cNvSpPr>
          <p:nvPr>
            <p:ph type="sldNum" sz="quarter" idx="12"/>
          </p:nvPr>
        </p:nvSpPr>
        <p:spPr>
          <a:xfrm>
            <a:off x="10461376" y="6388198"/>
            <a:ext cx="753545" cy="365125"/>
          </a:xfrm>
        </p:spPr>
        <p:txBody>
          <a:bodyPr>
            <a:normAutofit/>
          </a:bodyPr>
          <a:lstStyle/>
          <a:p>
            <a:pPr>
              <a:spcAft>
                <a:spcPts val="600"/>
              </a:spcAft>
            </a:pPr>
            <a:fld id="{4072BC8D-D296-40C7-BB87-C3ACFF7B6C6E}" type="slidenum">
              <a:rPr lang="en-US" smtClean="0"/>
              <a:pPr>
                <a:spcAft>
                  <a:spcPts val="600"/>
                </a:spcAft>
              </a:pPr>
              <a:t>9</a:t>
            </a:fld>
            <a:endParaRPr lang="en-US"/>
          </a:p>
        </p:txBody>
      </p:sp>
    </p:spTree>
    <p:extLst>
      <p:ext uri="{BB962C8B-B14F-4D97-AF65-F5344CB8AC3E}">
        <p14:creationId xmlns:p14="http://schemas.microsoft.com/office/powerpoint/2010/main" val="174474097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23133-A9F4-4476-BC7C-9F3D476CA71E}"/>
              </a:ext>
            </a:extLst>
          </p:cNvPr>
          <p:cNvSpPr>
            <a:spLocks noGrp="1"/>
          </p:cNvSpPr>
          <p:nvPr>
            <p:ph type="title"/>
          </p:nvPr>
        </p:nvSpPr>
        <p:spPr>
          <a:xfrm>
            <a:off x="279791" y="4572000"/>
            <a:ext cx="2489301" cy="1737360"/>
          </a:xfrm>
        </p:spPr>
        <p:txBody>
          <a:bodyPr>
            <a:normAutofit/>
          </a:bodyPr>
          <a:lstStyle/>
          <a:p>
            <a:pPr algn="r"/>
            <a:r>
              <a:rPr lang="en-US" sz="1800"/>
              <a:t>Chess Board</a:t>
            </a:r>
            <a:br>
              <a:rPr lang="en-US" sz="1800"/>
            </a:br>
            <a:r>
              <a:rPr lang="en-US" sz="1800"/>
              <a:t> Flow Diagram</a:t>
            </a:r>
          </a:p>
        </p:txBody>
      </p:sp>
      <p:pic>
        <p:nvPicPr>
          <p:cNvPr id="6" name="Picture 5" descr="A screenshot of a computer screen&#10;&#10;AI-generated content may be incorrect.">
            <a:extLst>
              <a:ext uri="{FF2B5EF4-FFF2-40B4-BE49-F238E27FC236}">
                <a16:creationId xmlns:a16="http://schemas.microsoft.com/office/drawing/2014/main" id="{9E9554C2-946A-9572-2C2B-B425204E36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048" y="643466"/>
            <a:ext cx="9703252" cy="3590204"/>
          </a:xfrm>
          <a:prstGeom prst="rect">
            <a:avLst/>
          </a:prstGeom>
        </p:spPr>
      </p:pic>
      <p:sp>
        <p:nvSpPr>
          <p:cNvPr id="3" name="Content Placeholder 2">
            <a:extLst>
              <a:ext uri="{FF2B5EF4-FFF2-40B4-BE49-F238E27FC236}">
                <a16:creationId xmlns:a16="http://schemas.microsoft.com/office/drawing/2014/main" id="{A3AE98BD-85C8-40EE-A431-56198DD87163}"/>
              </a:ext>
            </a:extLst>
          </p:cNvPr>
          <p:cNvSpPr>
            <a:spLocks noGrp="1"/>
          </p:cNvSpPr>
          <p:nvPr>
            <p:ph idx="1"/>
          </p:nvPr>
        </p:nvSpPr>
        <p:spPr>
          <a:xfrm>
            <a:off x="2972013" y="4128514"/>
            <a:ext cx="9124122" cy="2636079"/>
          </a:xfrm>
        </p:spPr>
        <p:txBody>
          <a:bodyPr anchor="ctr">
            <a:normAutofit fontScale="70000" lnSpcReduction="20000"/>
          </a:bodyPr>
          <a:lstStyle/>
          <a:p>
            <a:pPr marL="0" indent="0">
              <a:lnSpc>
                <a:spcPct val="110000"/>
              </a:lnSpc>
              <a:buNone/>
            </a:pPr>
            <a:r>
              <a:rPr lang="en-US" b="1" u="sng"/>
              <a:t>To run a fully hands-free chess game, the system follows these steps:</a:t>
            </a:r>
          </a:p>
          <a:p>
            <a:pPr>
              <a:lnSpc>
                <a:spcPct val="110000"/>
              </a:lnSpc>
              <a:buFont typeface="+mj-lt"/>
              <a:buAutoNum type="arabicPeriod"/>
            </a:pPr>
            <a:r>
              <a:rPr lang="en-US"/>
              <a:t>The player gives a spoken command (e.g., “A5 to B6”).</a:t>
            </a:r>
          </a:p>
          <a:p>
            <a:pPr>
              <a:lnSpc>
                <a:spcPct val="110000"/>
              </a:lnSpc>
              <a:buFont typeface="+mj-lt"/>
              <a:buAutoNum type="arabicPeriod"/>
            </a:pPr>
            <a:r>
              <a:rPr lang="en-US"/>
              <a:t>The board validates the command for accuracy and legality.</a:t>
            </a:r>
          </a:p>
          <a:p>
            <a:pPr>
              <a:lnSpc>
                <a:spcPct val="110000"/>
              </a:lnSpc>
              <a:buFont typeface="+mj-lt"/>
              <a:buAutoNum type="arabicPeriod"/>
            </a:pPr>
            <a:r>
              <a:rPr lang="en-US"/>
              <a:t>The Processing Unit internalizes the move and sends it to the Control Unit, which moves the piece via the Core XY mechanism.</a:t>
            </a:r>
          </a:p>
          <a:p>
            <a:pPr>
              <a:lnSpc>
                <a:spcPct val="110000"/>
              </a:lnSpc>
              <a:buFont typeface="+mj-lt"/>
              <a:buAutoNum type="arabicPeriod"/>
            </a:pPr>
            <a:r>
              <a:rPr lang="en-US"/>
              <a:t>In single-player mode, the AI generates its move; otherwise, the system waits for the next command.</a:t>
            </a:r>
          </a:p>
          <a:p>
            <a:pPr>
              <a:lnSpc>
                <a:spcPct val="110000"/>
              </a:lnSpc>
              <a:buFont typeface="+mj-lt"/>
              <a:buAutoNum type="arabicPeriod"/>
            </a:pPr>
            <a:r>
              <a:rPr lang="en-US"/>
              <a:t>Play continues until checkmate, after which the board resets for a new game or shuts down if chosen.</a:t>
            </a:r>
          </a:p>
        </p:txBody>
      </p:sp>
      <p:sp>
        <p:nvSpPr>
          <p:cNvPr id="4" name="Slide Number Placeholder 3">
            <a:extLst>
              <a:ext uri="{FF2B5EF4-FFF2-40B4-BE49-F238E27FC236}">
                <a16:creationId xmlns:a16="http://schemas.microsoft.com/office/drawing/2014/main" id="{D0C69133-6DD6-4242-A4C3-466391F69491}"/>
              </a:ext>
            </a:extLst>
          </p:cNvPr>
          <p:cNvSpPr>
            <a:spLocks noGrp="1"/>
          </p:cNvSpPr>
          <p:nvPr>
            <p:ph type="sldNum" sz="quarter" idx="12"/>
          </p:nvPr>
        </p:nvSpPr>
        <p:spPr>
          <a:xfrm>
            <a:off x="10804553" y="6492875"/>
            <a:ext cx="753545" cy="365125"/>
          </a:xfrm>
        </p:spPr>
        <p:txBody>
          <a:bodyPr>
            <a:normAutofit/>
          </a:bodyPr>
          <a:lstStyle/>
          <a:p>
            <a:pPr>
              <a:spcAft>
                <a:spcPts val="600"/>
              </a:spcAft>
            </a:pPr>
            <a:fld id="{4072BC8D-D296-40C7-BB87-C3ACFF7B6C6E}" type="slidenum">
              <a:rPr lang="en-US" smtClean="0"/>
              <a:pPr>
                <a:spcAft>
                  <a:spcPts val="600"/>
                </a:spcAft>
              </a:pPr>
              <a:t>10</a:t>
            </a:fld>
            <a:endParaRPr lang="en-US"/>
          </a:p>
        </p:txBody>
      </p:sp>
    </p:spTree>
    <p:extLst>
      <p:ext uri="{BB962C8B-B14F-4D97-AF65-F5344CB8AC3E}">
        <p14:creationId xmlns:p14="http://schemas.microsoft.com/office/powerpoint/2010/main" val="411401889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050A-95A6-54AC-BF1B-EE8CEF6D1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C10D2-4F5B-84EC-F563-A0A30B951AE3}"/>
              </a:ext>
            </a:extLst>
          </p:cNvPr>
          <p:cNvSpPr>
            <a:spLocks noGrp="1"/>
          </p:cNvSpPr>
          <p:nvPr>
            <p:ph type="title"/>
          </p:nvPr>
        </p:nvSpPr>
        <p:spPr>
          <a:xfrm>
            <a:off x="913795" y="147791"/>
            <a:ext cx="10353761" cy="1326321"/>
          </a:xfrm>
        </p:spPr>
        <p:txBody>
          <a:bodyPr/>
          <a:lstStyle/>
          <a:p>
            <a:r>
              <a:rPr lang="en-US"/>
              <a:t>Outline</a:t>
            </a:r>
          </a:p>
        </p:txBody>
      </p:sp>
      <p:sp>
        <p:nvSpPr>
          <p:cNvPr id="3" name="Content Placeholder 2">
            <a:extLst>
              <a:ext uri="{FF2B5EF4-FFF2-40B4-BE49-F238E27FC236}">
                <a16:creationId xmlns:a16="http://schemas.microsoft.com/office/drawing/2014/main" id="{33E90150-77C4-4B6E-8B24-E0C0725E19A3}"/>
              </a:ext>
            </a:extLst>
          </p:cNvPr>
          <p:cNvSpPr>
            <a:spLocks noGrp="1"/>
          </p:cNvSpPr>
          <p:nvPr>
            <p:ph idx="1"/>
          </p:nvPr>
        </p:nvSpPr>
        <p:spPr>
          <a:xfrm>
            <a:off x="913795" y="1016000"/>
            <a:ext cx="10353762" cy="4294909"/>
          </a:xfrm>
        </p:spPr>
        <p:txBody>
          <a:bodyPr>
            <a:noAutofit/>
          </a:bodyPr>
          <a:lstStyle/>
          <a:p>
            <a:r>
              <a:rPr lang="en-US" sz="3600">
                <a:solidFill>
                  <a:schemeClr val="tx1">
                    <a:lumMod val="85000"/>
                  </a:schemeClr>
                </a:solidFill>
              </a:rPr>
              <a:t>Problem Formulation</a:t>
            </a:r>
          </a:p>
          <a:p>
            <a:r>
              <a:rPr lang="en-US" sz="3600">
                <a:solidFill>
                  <a:schemeClr val="tx1">
                    <a:lumMod val="85000"/>
                  </a:schemeClr>
                </a:solidFill>
              </a:rPr>
              <a:t>Standards, Ethics, and Broader Impacts</a:t>
            </a:r>
          </a:p>
          <a:p>
            <a:r>
              <a:rPr lang="en-US" sz="3600">
                <a:solidFill>
                  <a:schemeClr val="tx1">
                    <a:lumMod val="85000"/>
                  </a:schemeClr>
                </a:solidFill>
              </a:rPr>
              <a:t>Overview of Conceptual Design</a:t>
            </a:r>
          </a:p>
          <a:p>
            <a:r>
              <a:rPr lang="en-US" sz="3600" b="1"/>
              <a:t>Detailed Design</a:t>
            </a:r>
          </a:p>
          <a:p>
            <a:r>
              <a:rPr lang="en-US" sz="3600">
                <a:solidFill>
                  <a:schemeClr val="tx1">
                    <a:lumMod val="85000"/>
                  </a:schemeClr>
                </a:solidFill>
              </a:rPr>
              <a:t>Implementation and Experimentation</a:t>
            </a:r>
          </a:p>
          <a:p>
            <a:r>
              <a:rPr lang="en-US" sz="3600">
                <a:solidFill>
                  <a:schemeClr val="tx1">
                    <a:lumMod val="85000"/>
                  </a:schemeClr>
                </a:solidFill>
              </a:rPr>
              <a:t>Demonstration</a:t>
            </a:r>
          </a:p>
          <a:p>
            <a:r>
              <a:rPr lang="en-US" sz="3600">
                <a:solidFill>
                  <a:schemeClr val="tx1">
                    <a:lumMod val="85000"/>
                  </a:schemeClr>
                </a:solidFill>
              </a:rPr>
              <a:t>Lessons Learned</a:t>
            </a:r>
          </a:p>
        </p:txBody>
      </p:sp>
      <p:sp>
        <p:nvSpPr>
          <p:cNvPr id="4" name="Slide Number Placeholder 3">
            <a:extLst>
              <a:ext uri="{FF2B5EF4-FFF2-40B4-BE49-F238E27FC236}">
                <a16:creationId xmlns:a16="http://schemas.microsoft.com/office/drawing/2014/main" id="{26DDE050-ADEB-E3E7-F981-9441D5A27EFE}"/>
              </a:ext>
            </a:extLst>
          </p:cNvPr>
          <p:cNvSpPr>
            <a:spLocks noGrp="1"/>
          </p:cNvSpPr>
          <p:nvPr>
            <p:ph type="sldNum" sz="quarter" idx="12"/>
          </p:nvPr>
        </p:nvSpPr>
        <p:spPr/>
        <p:txBody>
          <a:bodyPr/>
          <a:lstStyle/>
          <a:p>
            <a:fld id="{4072BC8D-D296-40C7-BB87-C3ACFF7B6C6E}" type="slidenum">
              <a:rPr lang="en-US" smtClean="0"/>
              <a:pPr/>
              <a:t>11</a:t>
            </a:fld>
            <a:endParaRPr lang="en-US"/>
          </a:p>
        </p:txBody>
      </p:sp>
    </p:spTree>
    <p:extLst>
      <p:ext uri="{BB962C8B-B14F-4D97-AF65-F5344CB8AC3E}">
        <p14:creationId xmlns:p14="http://schemas.microsoft.com/office/powerpoint/2010/main" val="2542036213"/>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7B5B2D9D-2AA4-3458-5548-ABEBFD082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AC272-11AB-900E-E3B9-D28F28452109}"/>
              </a:ext>
            </a:extLst>
          </p:cNvPr>
          <p:cNvSpPr>
            <a:spLocks noGrp="1"/>
          </p:cNvSpPr>
          <p:nvPr>
            <p:ph type="title"/>
          </p:nvPr>
        </p:nvSpPr>
        <p:spPr>
          <a:xfrm>
            <a:off x="913795" y="609600"/>
            <a:ext cx="10353761" cy="1326321"/>
          </a:xfrm>
        </p:spPr>
        <p:txBody>
          <a:bodyPr>
            <a:normAutofit/>
          </a:bodyPr>
          <a:lstStyle/>
          <a:p>
            <a:r>
              <a:rPr lang="en-US"/>
              <a:t>Processing Unit</a:t>
            </a:r>
          </a:p>
        </p:txBody>
      </p:sp>
      <p:sp>
        <p:nvSpPr>
          <p:cNvPr id="3" name="Content Placeholder 2">
            <a:extLst>
              <a:ext uri="{FF2B5EF4-FFF2-40B4-BE49-F238E27FC236}">
                <a16:creationId xmlns:a16="http://schemas.microsoft.com/office/drawing/2014/main" id="{F168EA08-D30E-B378-0285-30CACC606BE5}"/>
              </a:ext>
            </a:extLst>
          </p:cNvPr>
          <p:cNvSpPr>
            <a:spLocks noGrp="1"/>
          </p:cNvSpPr>
          <p:nvPr>
            <p:ph idx="1"/>
          </p:nvPr>
        </p:nvSpPr>
        <p:spPr>
          <a:xfrm>
            <a:off x="715965" y="1534937"/>
            <a:ext cx="7227308" cy="3729790"/>
          </a:xfrm>
        </p:spPr>
        <p:txBody>
          <a:bodyPr vert="horz" lIns="91440" tIns="45720" rIns="91440" bIns="45720" rtlCol="0" anchor="t">
            <a:noAutofit/>
          </a:bodyPr>
          <a:lstStyle/>
          <a:p>
            <a:pPr>
              <a:lnSpc>
                <a:spcPct val="100000"/>
              </a:lnSpc>
            </a:pPr>
            <a:r>
              <a:rPr lang="en-US" sz="2400"/>
              <a:t>Runs </a:t>
            </a:r>
            <a:r>
              <a:rPr lang="en-US" sz="2400" err="1"/>
              <a:t>Vosk</a:t>
            </a:r>
            <a:r>
              <a:rPr lang="en-US" sz="2400"/>
              <a:t> (speech‑to‑text), Python-Chess (move validation), Stockfish (AI)</a:t>
            </a:r>
          </a:p>
          <a:p>
            <a:pPr>
              <a:lnSpc>
                <a:spcPct val="100000"/>
              </a:lnSpc>
            </a:pPr>
            <a:r>
              <a:rPr lang="en-US" sz="2400"/>
              <a:t>Maintains full board state and interprets/validates voice commands</a:t>
            </a:r>
          </a:p>
          <a:p>
            <a:pPr>
              <a:lnSpc>
                <a:spcPct val="100000"/>
              </a:lnSpc>
            </a:pPr>
            <a:r>
              <a:rPr lang="en-US" sz="2400"/>
              <a:t>Interfaces with USB mic, LCD, and UART to Arduino Nano</a:t>
            </a:r>
          </a:p>
          <a:p>
            <a:pPr>
              <a:lnSpc>
                <a:spcPct val="100000"/>
              </a:lnSpc>
            </a:pPr>
            <a:r>
              <a:rPr lang="en-US" sz="2400"/>
              <a:t>Level‑shifts from 3.3V Raspberry Pi 5 to 5V Arduino Nano for safe UART communication</a:t>
            </a:r>
          </a:p>
          <a:p>
            <a:pPr>
              <a:lnSpc>
                <a:spcPct val="100000"/>
              </a:lnSpc>
            </a:pPr>
            <a:r>
              <a:rPr lang="en-US" sz="2400"/>
              <a:t>Has an attachable fan to reduce heating issues</a:t>
            </a:r>
          </a:p>
          <a:p>
            <a:pPr>
              <a:lnSpc>
                <a:spcPct val="100000"/>
              </a:lnSpc>
            </a:pPr>
            <a:r>
              <a:rPr lang="en-US" sz="2400"/>
              <a:t>Powers Nano and peripherals</a:t>
            </a:r>
          </a:p>
        </p:txBody>
      </p:sp>
      <p:sp>
        <p:nvSpPr>
          <p:cNvPr id="4" name="Slide Number Placeholder 3">
            <a:extLst>
              <a:ext uri="{FF2B5EF4-FFF2-40B4-BE49-F238E27FC236}">
                <a16:creationId xmlns:a16="http://schemas.microsoft.com/office/drawing/2014/main" id="{A8988570-CC8F-EE8F-E901-2E5B6920E21A}"/>
              </a:ext>
            </a:extLst>
          </p:cNvPr>
          <p:cNvSpPr>
            <a:spLocks noGrp="1"/>
          </p:cNvSpPr>
          <p:nvPr>
            <p:ph type="sldNum" sz="quarter" idx="12"/>
          </p:nvPr>
        </p:nvSpPr>
        <p:spPr>
          <a:xfrm>
            <a:off x="10890783" y="5883275"/>
            <a:ext cx="753545" cy="365125"/>
          </a:xfrm>
        </p:spPr>
        <p:txBody>
          <a:bodyPr>
            <a:normAutofit/>
          </a:bodyPr>
          <a:lstStyle/>
          <a:p>
            <a:pPr>
              <a:spcAft>
                <a:spcPts val="600"/>
              </a:spcAft>
            </a:pPr>
            <a:fld id="{4072BC8D-D296-40C7-BB87-C3ACFF7B6C6E}" type="slidenum">
              <a:rPr lang="en-US" smtClean="0"/>
              <a:pPr>
                <a:spcAft>
                  <a:spcPts val="600"/>
                </a:spcAft>
              </a:pPr>
              <a:t>12</a:t>
            </a:fld>
            <a:endParaRPr lang="en-US"/>
          </a:p>
        </p:txBody>
      </p:sp>
      <p:pic>
        <p:nvPicPr>
          <p:cNvPr id="7" name="Picture 2">
            <a:extLst>
              <a:ext uri="{FF2B5EF4-FFF2-40B4-BE49-F238E27FC236}">
                <a16:creationId xmlns:a16="http://schemas.microsoft.com/office/drawing/2014/main" id="{0B6FC4E0-4CDE-A3A2-D8D8-F25D08E0889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30" r="-5" b="-5"/>
          <a:stretch>
            <a:fillRect/>
          </a:stretch>
        </p:blipFill>
        <p:spPr bwMode="auto">
          <a:xfrm>
            <a:off x="8132550" y="1682410"/>
            <a:ext cx="3511778" cy="3493180"/>
          </a:xfrm>
          <a:prstGeom prst="rect">
            <a:avLst/>
          </a:prstGeom>
          <a:no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04044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BC3F1-19BA-E6EF-034F-793E2233BA66}"/>
              </a:ext>
            </a:extLst>
          </p:cNvPr>
          <p:cNvSpPr>
            <a:spLocks noGrp="1"/>
          </p:cNvSpPr>
          <p:nvPr>
            <p:ph type="title"/>
          </p:nvPr>
        </p:nvSpPr>
        <p:spPr/>
        <p:txBody>
          <a:bodyPr/>
          <a:lstStyle/>
          <a:p>
            <a:r>
              <a:rPr lang="en-US"/>
              <a:t>How specifications and constraints affected design</a:t>
            </a:r>
          </a:p>
        </p:txBody>
      </p:sp>
      <p:sp>
        <p:nvSpPr>
          <p:cNvPr id="3" name="Content Placeholder 2">
            <a:extLst>
              <a:ext uri="{FF2B5EF4-FFF2-40B4-BE49-F238E27FC236}">
                <a16:creationId xmlns:a16="http://schemas.microsoft.com/office/drawing/2014/main" id="{0DFC847A-AADD-8938-51AF-24F7F01E495F}"/>
              </a:ext>
            </a:extLst>
          </p:cNvPr>
          <p:cNvSpPr>
            <a:spLocks noGrp="1"/>
          </p:cNvSpPr>
          <p:nvPr>
            <p:ph idx="1"/>
          </p:nvPr>
        </p:nvSpPr>
        <p:spPr>
          <a:xfrm>
            <a:off x="913794" y="1917448"/>
            <a:ext cx="10353762" cy="4538769"/>
          </a:xfrm>
        </p:spPr>
        <p:txBody>
          <a:bodyPr vert="horz" lIns="91440" tIns="45720" rIns="91440" bIns="45720" rtlCol="0" anchor="t">
            <a:normAutofit/>
          </a:bodyPr>
          <a:lstStyle/>
          <a:p>
            <a:pPr>
              <a:lnSpc>
                <a:spcPct val="100000"/>
              </a:lnSpc>
            </a:pPr>
            <a:r>
              <a:rPr lang="en-US" sz="3200"/>
              <a:t>Gameplay required speech accuracy, move validation, and fast processing time</a:t>
            </a:r>
          </a:p>
          <a:p>
            <a:pPr>
              <a:lnSpc>
                <a:spcPct val="100000"/>
              </a:lnSpc>
            </a:pPr>
            <a:r>
              <a:rPr lang="en-US" sz="3200"/>
              <a:t>Privacy and accessibility requirements required recognition of a wide range of voices and clear listening indicators </a:t>
            </a:r>
          </a:p>
          <a:p>
            <a:pPr>
              <a:lnSpc>
                <a:spcPct val="100000"/>
              </a:lnSpc>
            </a:pPr>
            <a:r>
              <a:rPr lang="en-US" sz="3200"/>
              <a:t>Electrical safety standards called for a logic level shifter</a:t>
            </a:r>
          </a:p>
        </p:txBody>
      </p:sp>
      <p:sp>
        <p:nvSpPr>
          <p:cNvPr id="4" name="Slide Number Placeholder 3">
            <a:extLst>
              <a:ext uri="{FF2B5EF4-FFF2-40B4-BE49-F238E27FC236}">
                <a16:creationId xmlns:a16="http://schemas.microsoft.com/office/drawing/2014/main" id="{46637384-88CC-4207-A130-857898640FBB}"/>
              </a:ext>
            </a:extLst>
          </p:cNvPr>
          <p:cNvSpPr>
            <a:spLocks noGrp="1"/>
          </p:cNvSpPr>
          <p:nvPr>
            <p:ph type="sldNum" sz="quarter" idx="12"/>
          </p:nvPr>
        </p:nvSpPr>
        <p:spPr/>
        <p:txBody>
          <a:bodyPr/>
          <a:lstStyle/>
          <a:p>
            <a:fld id="{4072BC8D-D296-40C7-BB87-C3ACFF7B6C6E}" type="slidenum">
              <a:rPr lang="en-US" smtClean="0"/>
              <a:pPr/>
              <a:t>13</a:t>
            </a:fld>
            <a:endParaRPr lang="en-US"/>
          </a:p>
        </p:txBody>
      </p:sp>
    </p:spTree>
    <p:extLst>
      <p:ext uri="{BB962C8B-B14F-4D97-AF65-F5344CB8AC3E}">
        <p14:creationId xmlns:p14="http://schemas.microsoft.com/office/powerpoint/2010/main" val="383058817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2875-119C-4998-E328-EF7915F266D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CEDB18A-1B13-FD4A-DC41-20FC74D3C52A}"/>
              </a:ext>
            </a:extLst>
          </p:cNvPr>
          <p:cNvSpPr/>
          <p:nvPr/>
        </p:nvSpPr>
        <p:spPr>
          <a:xfrm>
            <a:off x="7660963" y="1713797"/>
            <a:ext cx="4090245" cy="312560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433C3D-2BC5-1E72-1BD9-D20F6D6FBA0B}"/>
              </a:ext>
            </a:extLst>
          </p:cNvPr>
          <p:cNvSpPr>
            <a:spLocks noGrp="1"/>
          </p:cNvSpPr>
          <p:nvPr>
            <p:ph type="title"/>
          </p:nvPr>
        </p:nvSpPr>
        <p:spPr>
          <a:xfrm>
            <a:off x="913795" y="609600"/>
            <a:ext cx="10353761" cy="1326321"/>
          </a:xfrm>
        </p:spPr>
        <p:txBody>
          <a:bodyPr>
            <a:normAutofit/>
          </a:bodyPr>
          <a:lstStyle/>
          <a:p>
            <a:r>
              <a:rPr lang="en-US"/>
              <a:t>Control Unit</a:t>
            </a:r>
          </a:p>
        </p:txBody>
      </p:sp>
      <p:sp>
        <p:nvSpPr>
          <p:cNvPr id="3" name="Content Placeholder 2">
            <a:extLst>
              <a:ext uri="{FF2B5EF4-FFF2-40B4-BE49-F238E27FC236}">
                <a16:creationId xmlns:a16="http://schemas.microsoft.com/office/drawing/2014/main" id="{B67AD4D9-95BC-9821-3FC1-B748A1BC2167}"/>
              </a:ext>
            </a:extLst>
          </p:cNvPr>
          <p:cNvSpPr>
            <a:spLocks noGrp="1"/>
          </p:cNvSpPr>
          <p:nvPr>
            <p:ph idx="1"/>
          </p:nvPr>
        </p:nvSpPr>
        <p:spPr>
          <a:xfrm>
            <a:off x="738910" y="1550561"/>
            <a:ext cx="6825672" cy="5118094"/>
          </a:xfrm>
        </p:spPr>
        <p:txBody>
          <a:bodyPr>
            <a:normAutofit/>
          </a:bodyPr>
          <a:lstStyle/>
          <a:p>
            <a:pPr>
              <a:lnSpc>
                <a:spcPct val="100000"/>
              </a:lnSpc>
            </a:pPr>
            <a:r>
              <a:rPr lang="en-US" sz="2400"/>
              <a:t>Arduino Nano receives source/destination squares from Pi over UART</a:t>
            </a:r>
          </a:p>
          <a:p>
            <a:pPr>
              <a:lnSpc>
                <a:spcPct val="100000"/>
              </a:lnSpc>
            </a:pPr>
            <a:r>
              <a:rPr lang="en-US" sz="2400"/>
              <a:t>Computes movement direction and type with edge‑prioritized movement pattern</a:t>
            </a:r>
          </a:p>
          <a:p>
            <a:pPr>
              <a:lnSpc>
                <a:spcPct val="100000"/>
              </a:lnSpc>
            </a:pPr>
            <a:r>
              <a:rPr lang="en-US" sz="2400"/>
              <a:t>Nano sends STEP/DIR signals to TMC2209 drivers</a:t>
            </a:r>
          </a:p>
          <a:p>
            <a:pPr>
              <a:lnSpc>
                <a:spcPct val="100000"/>
              </a:lnSpc>
            </a:pPr>
            <a:r>
              <a:rPr lang="en-US" sz="2400"/>
              <a:t>Controls electromagnet via MOSFET and protection components (flyback diode, gate resistor, and pulldown resistor)</a:t>
            </a:r>
          </a:p>
        </p:txBody>
      </p:sp>
      <p:sp>
        <p:nvSpPr>
          <p:cNvPr id="4" name="Slide Number Placeholder 3">
            <a:extLst>
              <a:ext uri="{FF2B5EF4-FFF2-40B4-BE49-F238E27FC236}">
                <a16:creationId xmlns:a16="http://schemas.microsoft.com/office/drawing/2014/main" id="{3AD96E74-0C6C-D142-E1A6-947064B211C6}"/>
              </a:ext>
            </a:extLst>
          </p:cNvPr>
          <p:cNvSpPr>
            <a:spLocks noGrp="1"/>
          </p:cNvSpPr>
          <p:nvPr>
            <p:ph type="sldNum" sz="quarter" idx="12"/>
          </p:nvPr>
        </p:nvSpPr>
        <p:spPr>
          <a:xfrm>
            <a:off x="10514011" y="5883275"/>
            <a:ext cx="753545" cy="365125"/>
          </a:xfrm>
        </p:spPr>
        <p:txBody>
          <a:bodyPr>
            <a:normAutofit/>
          </a:bodyPr>
          <a:lstStyle/>
          <a:p>
            <a:fld id="{4072BC8D-D296-40C7-BB87-C3ACFF7B6C6E}" type="slidenum">
              <a:rPr lang="en-US"/>
              <a:pPr/>
              <a:t>14</a:t>
            </a:fld>
            <a:endParaRPr lang="en-US"/>
          </a:p>
        </p:txBody>
      </p:sp>
      <p:sp>
        <p:nvSpPr>
          <p:cNvPr id="10" name="AutoShape 6" descr="Overhead shot of square-shaped motor driver breakout with green terminal blocks.">
            <a:extLst>
              <a:ext uri="{FF2B5EF4-FFF2-40B4-BE49-F238E27FC236}">
                <a16:creationId xmlns:a16="http://schemas.microsoft.com/office/drawing/2014/main" id="{EA951530-C244-FF64-7FE1-6B924C1C99C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rduino Nano - ATmega328 a000005">
            <a:extLst>
              <a:ext uri="{FF2B5EF4-FFF2-40B4-BE49-F238E27FC236}">
                <a16:creationId xmlns:a16="http://schemas.microsoft.com/office/drawing/2014/main" id="{C08D940C-1C10-A0EC-AE44-9AAFB02B8E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418" r="-4" b="711"/>
          <a:stretch>
            <a:fillRect/>
          </a:stretch>
        </p:blipFill>
        <p:spPr bwMode="auto">
          <a:xfrm>
            <a:off x="8097418" y="1796295"/>
            <a:ext cx="3217333" cy="148030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IGTREETECH TMC2209 V1.3 Stepper Motor Driver TMC2208 3D Printer Parts For  BTT Octopus SKR V1.4 SKR Mini E3 Ender3 V2 Voron 2.4 | Fruugo UK">
            <a:extLst>
              <a:ext uri="{FF2B5EF4-FFF2-40B4-BE49-F238E27FC236}">
                <a16:creationId xmlns:a16="http://schemas.microsoft.com/office/drawing/2014/main" id="{518F9B96-7EE5-96AD-42AC-1FE533D10B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014" t="9559" r="8505" b="5320"/>
          <a:stretch>
            <a:fillRect/>
          </a:stretch>
        </p:blipFill>
        <p:spPr bwMode="auto">
          <a:xfrm>
            <a:off x="8390199" y="3276600"/>
            <a:ext cx="1297858" cy="14832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BIGTREETECH TMC2209 V1.3 Stepper Motor Driver TMC2208 3D Printer Parts For  BTT Octopus SKR V1.4 SKR Mini E3 Ender3 V2 Voron 2.4 | Fruugo UK">
            <a:extLst>
              <a:ext uri="{FF2B5EF4-FFF2-40B4-BE49-F238E27FC236}">
                <a16:creationId xmlns:a16="http://schemas.microsoft.com/office/drawing/2014/main" id="{BA7321D6-CC33-1BFB-754A-EACDE32F098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014" t="9559" r="8505" b="5320"/>
          <a:stretch>
            <a:fillRect/>
          </a:stretch>
        </p:blipFill>
        <p:spPr bwMode="auto">
          <a:xfrm>
            <a:off x="9802762" y="3276600"/>
            <a:ext cx="1297858" cy="148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1892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0716A-B56C-7D14-F88E-79DC194E4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073BF-46CA-069E-714D-748AC97F9DD3}"/>
              </a:ext>
            </a:extLst>
          </p:cNvPr>
          <p:cNvSpPr>
            <a:spLocks noGrp="1"/>
          </p:cNvSpPr>
          <p:nvPr>
            <p:ph type="title"/>
          </p:nvPr>
        </p:nvSpPr>
        <p:spPr/>
        <p:txBody>
          <a:bodyPr/>
          <a:lstStyle/>
          <a:p>
            <a:r>
              <a:rPr lang="en-US"/>
              <a:t>How specifications and constraints affected design</a:t>
            </a:r>
          </a:p>
        </p:txBody>
      </p:sp>
      <p:sp>
        <p:nvSpPr>
          <p:cNvPr id="3" name="Content Placeholder 2">
            <a:extLst>
              <a:ext uri="{FF2B5EF4-FFF2-40B4-BE49-F238E27FC236}">
                <a16:creationId xmlns:a16="http://schemas.microsoft.com/office/drawing/2014/main" id="{7B2EF2D2-1802-8836-A3D8-718F9A90AFC1}"/>
              </a:ext>
            </a:extLst>
          </p:cNvPr>
          <p:cNvSpPr>
            <a:spLocks noGrp="1"/>
          </p:cNvSpPr>
          <p:nvPr>
            <p:ph idx="1"/>
          </p:nvPr>
        </p:nvSpPr>
        <p:spPr>
          <a:xfrm>
            <a:off x="913794" y="1922969"/>
            <a:ext cx="10353762" cy="4628010"/>
          </a:xfrm>
        </p:spPr>
        <p:txBody>
          <a:bodyPr vert="horz" lIns="91440" tIns="45720" rIns="91440" bIns="45720" rtlCol="0" anchor="t">
            <a:normAutofit lnSpcReduction="10000"/>
          </a:bodyPr>
          <a:lstStyle/>
          <a:p>
            <a:pPr>
              <a:lnSpc>
                <a:spcPct val="100000"/>
              </a:lnSpc>
            </a:pPr>
            <a:r>
              <a:rPr lang="en-US" sz="3200">
                <a:effectLst/>
              </a:rPr>
              <a:t>High positional accuracy and low‑latency requirements drove the use of TMC2209 </a:t>
            </a:r>
            <a:r>
              <a:rPr lang="en-US" sz="3200" err="1">
                <a:effectLst/>
              </a:rPr>
              <a:t>microstepping</a:t>
            </a:r>
            <a:r>
              <a:rPr lang="en-US" sz="3200">
                <a:effectLst/>
              </a:rPr>
              <a:t> and a deterministic Nano‑based control loop</a:t>
            </a:r>
          </a:p>
          <a:p>
            <a:pPr>
              <a:lnSpc>
                <a:spcPct val="100000"/>
              </a:lnSpc>
            </a:pPr>
            <a:r>
              <a:rPr lang="en-US" sz="3200">
                <a:effectLst/>
              </a:rPr>
              <a:t>Electromagnet and stepper inductive loads required MOSFET switching with flyback protection and proper grounding</a:t>
            </a:r>
          </a:p>
          <a:p>
            <a:pPr>
              <a:lnSpc>
                <a:spcPct val="100000"/>
              </a:lnSpc>
            </a:pPr>
            <a:r>
              <a:rPr lang="en-US" sz="3200">
                <a:effectLst/>
              </a:rPr>
              <a:t>Thermal limits on the TMC2209 drivers required heatsinks and airflow planning to avoid overheating</a:t>
            </a:r>
          </a:p>
        </p:txBody>
      </p:sp>
      <p:sp>
        <p:nvSpPr>
          <p:cNvPr id="4" name="Slide Number Placeholder 3">
            <a:extLst>
              <a:ext uri="{FF2B5EF4-FFF2-40B4-BE49-F238E27FC236}">
                <a16:creationId xmlns:a16="http://schemas.microsoft.com/office/drawing/2014/main" id="{7236B8DB-7D1E-4A76-DE80-00D5DF10F11D}"/>
              </a:ext>
            </a:extLst>
          </p:cNvPr>
          <p:cNvSpPr>
            <a:spLocks noGrp="1"/>
          </p:cNvSpPr>
          <p:nvPr>
            <p:ph type="sldNum" sz="quarter" idx="12"/>
          </p:nvPr>
        </p:nvSpPr>
        <p:spPr/>
        <p:txBody>
          <a:bodyPr/>
          <a:lstStyle/>
          <a:p>
            <a:fld id="{4072BC8D-D296-40C7-BB87-C3ACFF7B6C6E}" type="slidenum">
              <a:rPr lang="en-US" smtClean="0"/>
              <a:pPr/>
              <a:t>15</a:t>
            </a:fld>
            <a:endParaRPr lang="en-US"/>
          </a:p>
        </p:txBody>
      </p:sp>
    </p:spTree>
    <p:extLst>
      <p:ext uri="{BB962C8B-B14F-4D97-AF65-F5344CB8AC3E}">
        <p14:creationId xmlns:p14="http://schemas.microsoft.com/office/powerpoint/2010/main" val="1476979112"/>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BD02057A-6CC0-E1F6-D791-650318A1D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360CA-3E44-6048-CFC5-1BA2132DEF84}"/>
              </a:ext>
            </a:extLst>
          </p:cNvPr>
          <p:cNvSpPr>
            <a:spLocks noGrp="1"/>
          </p:cNvSpPr>
          <p:nvPr>
            <p:ph type="title"/>
          </p:nvPr>
        </p:nvSpPr>
        <p:spPr>
          <a:xfrm>
            <a:off x="913795" y="609600"/>
            <a:ext cx="10353761" cy="1326321"/>
          </a:xfrm>
        </p:spPr>
        <p:txBody>
          <a:bodyPr>
            <a:normAutofit/>
          </a:bodyPr>
          <a:lstStyle/>
          <a:p>
            <a:r>
              <a:rPr lang="en-US" err="1"/>
              <a:t>Corexy</a:t>
            </a:r>
            <a:r>
              <a:rPr lang="en-US"/>
              <a:t> Unit</a:t>
            </a:r>
          </a:p>
        </p:txBody>
      </p:sp>
      <p:sp>
        <p:nvSpPr>
          <p:cNvPr id="3" name="Content Placeholder 2">
            <a:extLst>
              <a:ext uri="{FF2B5EF4-FFF2-40B4-BE49-F238E27FC236}">
                <a16:creationId xmlns:a16="http://schemas.microsoft.com/office/drawing/2014/main" id="{F30BF018-CAEA-89AB-5778-2D057986CEBF}"/>
              </a:ext>
            </a:extLst>
          </p:cNvPr>
          <p:cNvSpPr>
            <a:spLocks noGrp="1"/>
          </p:cNvSpPr>
          <p:nvPr>
            <p:ph idx="1"/>
          </p:nvPr>
        </p:nvSpPr>
        <p:spPr>
          <a:xfrm>
            <a:off x="748146" y="1551121"/>
            <a:ext cx="6824228" cy="5089824"/>
          </a:xfrm>
        </p:spPr>
        <p:txBody>
          <a:bodyPr>
            <a:normAutofit/>
          </a:bodyPr>
          <a:lstStyle/>
          <a:p>
            <a:pPr>
              <a:lnSpc>
                <a:spcPct val="100000"/>
              </a:lnSpc>
            </a:pPr>
            <a:r>
              <a:rPr lang="en-US" sz="2400"/>
              <a:t>A two-belt motion system that moves magnetic actuator that powers on and “grabs” the magnets inside the pieces</a:t>
            </a:r>
          </a:p>
          <a:p>
            <a:pPr>
              <a:lnSpc>
                <a:spcPct val="100000"/>
              </a:lnSpc>
            </a:pPr>
            <a:r>
              <a:rPr lang="en-US" sz="2400"/>
              <a:t>Each motor controls diagonal motion</a:t>
            </a:r>
          </a:p>
          <a:p>
            <a:pPr lvl="1">
              <a:lnSpc>
                <a:spcPct val="100000"/>
              </a:lnSpc>
            </a:pPr>
            <a:r>
              <a:rPr lang="en-US" sz="2400"/>
              <a:t>Same direction → X-axis</a:t>
            </a:r>
          </a:p>
          <a:p>
            <a:pPr lvl="1">
              <a:lnSpc>
                <a:spcPct val="100000"/>
              </a:lnSpc>
            </a:pPr>
            <a:r>
              <a:rPr lang="en-US" sz="2400"/>
              <a:t>Opposite direction → Y-axis</a:t>
            </a:r>
          </a:p>
          <a:p>
            <a:pPr>
              <a:lnSpc>
                <a:spcPct val="100000"/>
              </a:lnSpc>
            </a:pPr>
            <a:r>
              <a:rPr lang="en-US" sz="2400"/>
              <a:t>The frame includes mounts for Nano, drivers, wiring</a:t>
            </a:r>
          </a:p>
          <a:p>
            <a:pPr>
              <a:lnSpc>
                <a:spcPct val="100000"/>
              </a:lnSpc>
            </a:pPr>
            <a:r>
              <a:rPr lang="en-US" sz="2400"/>
              <a:t>The Control Unit controls both the motors (by TMC2209 drivers) and the electromagnet (by MOSFET circuit) both of which receive power from the Power Supply Unit</a:t>
            </a:r>
          </a:p>
          <a:p>
            <a:pPr>
              <a:lnSpc>
                <a:spcPct val="100000"/>
              </a:lnSpc>
            </a:pPr>
            <a:endParaRPr lang="en-US" sz="2400"/>
          </a:p>
          <a:p>
            <a:pPr>
              <a:lnSpc>
                <a:spcPct val="110000"/>
              </a:lnSpc>
            </a:pPr>
            <a:endParaRPr lang="en-US" sz="2400"/>
          </a:p>
        </p:txBody>
      </p:sp>
      <p:sp>
        <p:nvSpPr>
          <p:cNvPr id="4" name="Slide Number Placeholder 3">
            <a:extLst>
              <a:ext uri="{FF2B5EF4-FFF2-40B4-BE49-F238E27FC236}">
                <a16:creationId xmlns:a16="http://schemas.microsoft.com/office/drawing/2014/main" id="{412D8C67-1B47-F098-041E-AD4754DD237C}"/>
              </a:ext>
            </a:extLst>
          </p:cNvPr>
          <p:cNvSpPr>
            <a:spLocks noGrp="1"/>
          </p:cNvSpPr>
          <p:nvPr>
            <p:ph type="sldNum" sz="quarter" idx="12"/>
          </p:nvPr>
        </p:nvSpPr>
        <p:spPr>
          <a:xfrm>
            <a:off x="10514011" y="5883275"/>
            <a:ext cx="753545" cy="365125"/>
          </a:xfrm>
        </p:spPr>
        <p:txBody>
          <a:bodyPr>
            <a:normAutofit/>
          </a:bodyPr>
          <a:lstStyle/>
          <a:p>
            <a:pPr>
              <a:spcAft>
                <a:spcPts val="600"/>
              </a:spcAft>
            </a:pPr>
            <a:fld id="{4072BC8D-D296-40C7-BB87-C3ACFF7B6C6E}" type="slidenum">
              <a:rPr lang="en-US"/>
              <a:pPr>
                <a:spcAft>
                  <a:spcPts val="600"/>
                </a:spcAft>
              </a:pPr>
              <a:t>16</a:t>
            </a:fld>
            <a:endParaRPr lang="en-US"/>
          </a:p>
        </p:txBody>
      </p:sp>
      <p:sp>
        <p:nvSpPr>
          <p:cNvPr id="10" name="AutoShape 6" descr="Overhead shot of square-shaped motor driver breakout with green terminal blocks.">
            <a:extLst>
              <a:ext uri="{FF2B5EF4-FFF2-40B4-BE49-F238E27FC236}">
                <a16:creationId xmlns:a16="http://schemas.microsoft.com/office/drawing/2014/main" id="{B70066FE-02B2-4B14-EB89-1D9B9D6668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 drawing of a machine&#10;&#10;AI-generated content may be incorrect.">
            <a:extLst>
              <a:ext uri="{FF2B5EF4-FFF2-40B4-BE49-F238E27FC236}">
                <a16:creationId xmlns:a16="http://schemas.microsoft.com/office/drawing/2014/main" id="{95AED545-09A2-2BB6-1575-E77812CB81C1}"/>
              </a:ext>
            </a:extLst>
          </p:cNvPr>
          <p:cNvPicPr>
            <a:picLocks noChangeAspect="1"/>
          </p:cNvPicPr>
          <p:nvPr/>
        </p:nvPicPr>
        <p:blipFill>
          <a:blip r:embed="rId4"/>
          <a:srcRect l="2109" t="523" r="32109" b="218"/>
          <a:stretch>
            <a:fillRect/>
          </a:stretch>
        </p:blipFill>
        <p:spPr>
          <a:xfrm>
            <a:off x="7572374" y="1611743"/>
            <a:ext cx="4259962" cy="3134917"/>
          </a:xfrm>
          <a:prstGeom prst="rect">
            <a:avLst/>
          </a:prstGeom>
        </p:spPr>
      </p:pic>
    </p:spTree>
    <p:extLst>
      <p:ext uri="{BB962C8B-B14F-4D97-AF65-F5344CB8AC3E}">
        <p14:creationId xmlns:p14="http://schemas.microsoft.com/office/powerpoint/2010/main" val="1785445905"/>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735D2-CF8B-B972-CEE5-DE353A27E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B7576-660D-9AC3-36EF-D3C9A3C832F6}"/>
              </a:ext>
            </a:extLst>
          </p:cNvPr>
          <p:cNvSpPr>
            <a:spLocks noGrp="1"/>
          </p:cNvSpPr>
          <p:nvPr>
            <p:ph type="title"/>
          </p:nvPr>
        </p:nvSpPr>
        <p:spPr/>
        <p:txBody>
          <a:bodyPr/>
          <a:lstStyle/>
          <a:p>
            <a:r>
              <a:rPr lang="en-US"/>
              <a:t>How specifications and constraints affected design</a:t>
            </a:r>
          </a:p>
        </p:txBody>
      </p:sp>
      <p:sp>
        <p:nvSpPr>
          <p:cNvPr id="3" name="Content Placeholder 2">
            <a:extLst>
              <a:ext uri="{FF2B5EF4-FFF2-40B4-BE49-F238E27FC236}">
                <a16:creationId xmlns:a16="http://schemas.microsoft.com/office/drawing/2014/main" id="{3B44323C-81AD-0CB7-B444-C5EC476E4A65}"/>
              </a:ext>
            </a:extLst>
          </p:cNvPr>
          <p:cNvSpPr>
            <a:spLocks noGrp="1"/>
          </p:cNvSpPr>
          <p:nvPr>
            <p:ph idx="1"/>
          </p:nvPr>
        </p:nvSpPr>
        <p:spPr>
          <a:xfrm>
            <a:off x="913795" y="1954393"/>
            <a:ext cx="10353762" cy="4286263"/>
          </a:xfrm>
        </p:spPr>
        <p:txBody>
          <a:bodyPr>
            <a:normAutofit/>
          </a:bodyPr>
          <a:lstStyle/>
          <a:p>
            <a:pPr>
              <a:lnSpc>
                <a:spcPct val="100000"/>
              </a:lnSpc>
            </a:pPr>
            <a:r>
              <a:rPr lang="en-US" sz="3200"/>
              <a:t>Required ±0.5 mm positioning accuracy drove belt‑tension tuning, pulley alignment, and a rigid frame geometry </a:t>
            </a:r>
          </a:p>
          <a:p>
            <a:pPr>
              <a:lnSpc>
                <a:spcPct val="100000"/>
              </a:lnSpc>
            </a:pPr>
            <a:r>
              <a:rPr lang="en-US" sz="3200"/>
              <a:t>Board dimensions directly set the </a:t>
            </a:r>
            <a:r>
              <a:rPr lang="en-US" sz="3200" err="1"/>
              <a:t>CoreXY</a:t>
            </a:r>
            <a:r>
              <a:rPr lang="en-US" sz="3200"/>
              <a:t> footprint, belt lengths, and travel range of the carriage</a:t>
            </a:r>
          </a:p>
          <a:p>
            <a:pPr>
              <a:lnSpc>
                <a:spcPct val="100000"/>
              </a:lnSpc>
            </a:pPr>
            <a:r>
              <a:rPr lang="en-US" sz="3200"/>
              <a:t>Safety and wiring standards guided enclosure layout, pinch‑point avoidance, and isolation of moving mechanical parts</a:t>
            </a:r>
          </a:p>
        </p:txBody>
      </p:sp>
      <p:sp>
        <p:nvSpPr>
          <p:cNvPr id="4" name="Slide Number Placeholder 3">
            <a:extLst>
              <a:ext uri="{FF2B5EF4-FFF2-40B4-BE49-F238E27FC236}">
                <a16:creationId xmlns:a16="http://schemas.microsoft.com/office/drawing/2014/main" id="{74700EE6-1BD7-9EB6-816F-2CF79B558B02}"/>
              </a:ext>
            </a:extLst>
          </p:cNvPr>
          <p:cNvSpPr>
            <a:spLocks noGrp="1"/>
          </p:cNvSpPr>
          <p:nvPr>
            <p:ph type="sldNum" sz="quarter" idx="12"/>
          </p:nvPr>
        </p:nvSpPr>
        <p:spPr/>
        <p:txBody>
          <a:bodyPr/>
          <a:lstStyle/>
          <a:p>
            <a:fld id="{4072BC8D-D296-40C7-BB87-C3ACFF7B6C6E}" type="slidenum">
              <a:rPr lang="en-US" smtClean="0"/>
              <a:pPr/>
              <a:t>17</a:t>
            </a:fld>
            <a:endParaRPr lang="en-US"/>
          </a:p>
        </p:txBody>
      </p:sp>
    </p:spTree>
    <p:extLst>
      <p:ext uri="{BB962C8B-B14F-4D97-AF65-F5344CB8AC3E}">
        <p14:creationId xmlns:p14="http://schemas.microsoft.com/office/powerpoint/2010/main" val="235103059"/>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3DC4F843-0758-64BE-9831-FFE013978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3DE82-E5BC-7C6C-6935-4277102C100D}"/>
              </a:ext>
            </a:extLst>
          </p:cNvPr>
          <p:cNvSpPr>
            <a:spLocks noGrp="1"/>
          </p:cNvSpPr>
          <p:nvPr>
            <p:ph type="title"/>
          </p:nvPr>
        </p:nvSpPr>
        <p:spPr>
          <a:xfrm>
            <a:off x="913795" y="609600"/>
            <a:ext cx="10353761" cy="1326321"/>
          </a:xfrm>
        </p:spPr>
        <p:txBody>
          <a:bodyPr>
            <a:normAutofit/>
          </a:bodyPr>
          <a:lstStyle/>
          <a:p>
            <a:r>
              <a:rPr lang="en-US"/>
              <a:t>PERIPHERALs Unit</a:t>
            </a:r>
          </a:p>
        </p:txBody>
      </p:sp>
      <p:sp>
        <p:nvSpPr>
          <p:cNvPr id="3" name="Content Placeholder 2">
            <a:extLst>
              <a:ext uri="{FF2B5EF4-FFF2-40B4-BE49-F238E27FC236}">
                <a16:creationId xmlns:a16="http://schemas.microsoft.com/office/drawing/2014/main" id="{BE34357E-418F-C5BC-A3E8-BDDFE0DEBC62}"/>
              </a:ext>
            </a:extLst>
          </p:cNvPr>
          <p:cNvSpPr>
            <a:spLocks noGrp="1"/>
          </p:cNvSpPr>
          <p:nvPr>
            <p:ph idx="1"/>
          </p:nvPr>
        </p:nvSpPr>
        <p:spPr>
          <a:xfrm>
            <a:off x="736383" y="1550561"/>
            <a:ext cx="6844146" cy="4526966"/>
          </a:xfrm>
        </p:spPr>
        <p:txBody>
          <a:bodyPr>
            <a:normAutofit/>
          </a:bodyPr>
          <a:lstStyle/>
          <a:p>
            <a:pPr>
              <a:lnSpc>
                <a:spcPct val="100000"/>
              </a:lnSpc>
            </a:pPr>
            <a:r>
              <a:rPr lang="en-US" sz="2400"/>
              <a:t>5" HDMI LCD and USB omnidirectional microphone are used for player interaction and feedback</a:t>
            </a:r>
          </a:p>
          <a:p>
            <a:pPr>
              <a:lnSpc>
                <a:spcPct val="100000"/>
              </a:lnSpc>
            </a:pPr>
            <a:r>
              <a:rPr lang="en-US" sz="2400"/>
              <a:t>Chessboard has 64 play squares and 32 storage squares each 2.25”</a:t>
            </a:r>
          </a:p>
          <a:p>
            <a:pPr>
              <a:lnSpc>
                <a:spcPct val="100000"/>
              </a:lnSpc>
            </a:pPr>
            <a:r>
              <a:rPr lang="en-US" sz="2400"/>
              <a:t>Pieces include neodymium magnets for magnetic movement</a:t>
            </a:r>
          </a:p>
          <a:p>
            <a:pPr>
              <a:lnSpc>
                <a:spcPct val="100000"/>
              </a:lnSpc>
            </a:pPr>
            <a:r>
              <a:rPr lang="en-US" sz="2400"/>
              <a:t>Board made of ¾ inch plywood on the sides, ½ inch plywood bottom, and 1/8</a:t>
            </a:r>
            <a:r>
              <a:rPr lang="en-US" sz="2400" baseline="30000"/>
              <a:t>th</a:t>
            </a:r>
            <a:r>
              <a:rPr lang="en-US" sz="2400"/>
              <a:t> inch acrylic on top</a:t>
            </a:r>
          </a:p>
          <a:p>
            <a:pPr marL="0" indent="0">
              <a:lnSpc>
                <a:spcPct val="100000"/>
              </a:lnSpc>
              <a:buNone/>
            </a:pPr>
            <a:endParaRPr lang="en-US" sz="2400"/>
          </a:p>
        </p:txBody>
      </p:sp>
      <p:sp>
        <p:nvSpPr>
          <p:cNvPr id="4" name="Slide Number Placeholder 3">
            <a:extLst>
              <a:ext uri="{FF2B5EF4-FFF2-40B4-BE49-F238E27FC236}">
                <a16:creationId xmlns:a16="http://schemas.microsoft.com/office/drawing/2014/main" id="{BD4B63D4-FF9A-41E6-7C28-223512667D46}"/>
              </a:ext>
            </a:extLst>
          </p:cNvPr>
          <p:cNvSpPr>
            <a:spLocks noGrp="1"/>
          </p:cNvSpPr>
          <p:nvPr>
            <p:ph type="sldNum" sz="quarter" idx="12"/>
          </p:nvPr>
        </p:nvSpPr>
        <p:spPr>
          <a:xfrm>
            <a:off x="10514011" y="5883275"/>
            <a:ext cx="753545" cy="365125"/>
          </a:xfrm>
        </p:spPr>
        <p:txBody>
          <a:bodyPr>
            <a:normAutofit/>
          </a:bodyPr>
          <a:lstStyle/>
          <a:p>
            <a:fld id="{4072BC8D-D296-40C7-BB87-C3ACFF7B6C6E}" type="slidenum">
              <a:rPr lang="en-US"/>
              <a:pPr/>
              <a:t>18</a:t>
            </a:fld>
            <a:endParaRPr lang="en-US"/>
          </a:p>
        </p:txBody>
      </p:sp>
      <p:sp>
        <p:nvSpPr>
          <p:cNvPr id="10" name="AutoShape 6" descr="Overhead shot of square-shaped motor driver breakout with green terminal blocks.">
            <a:extLst>
              <a:ext uri="{FF2B5EF4-FFF2-40B4-BE49-F238E27FC236}">
                <a16:creationId xmlns:a16="http://schemas.microsoft.com/office/drawing/2014/main" id="{433F9666-5625-160C-D361-238B1AFF075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B291C65F-ABAA-7799-76DE-0CA740C858DC}"/>
              </a:ext>
            </a:extLst>
          </p:cNvPr>
          <p:cNvPicPr>
            <a:picLocks noChangeAspect="1"/>
          </p:cNvPicPr>
          <p:nvPr/>
        </p:nvPicPr>
        <p:blipFill>
          <a:blip r:embed="rId4"/>
          <a:stretch>
            <a:fillRect/>
          </a:stretch>
        </p:blipFill>
        <p:spPr>
          <a:xfrm>
            <a:off x="7622445" y="1550561"/>
            <a:ext cx="4333838" cy="3371519"/>
          </a:xfrm>
          <a:prstGeom prst="rect">
            <a:avLst/>
          </a:prstGeom>
        </p:spPr>
      </p:pic>
    </p:spTree>
    <p:extLst>
      <p:ext uri="{BB962C8B-B14F-4D97-AF65-F5344CB8AC3E}">
        <p14:creationId xmlns:p14="http://schemas.microsoft.com/office/powerpoint/2010/main" val="2373285943"/>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CF0A0-649C-4009-1BDA-A194745B0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CBD96-2919-6856-5B81-28EFE0AEB8F8}"/>
              </a:ext>
            </a:extLst>
          </p:cNvPr>
          <p:cNvSpPr>
            <a:spLocks noGrp="1"/>
          </p:cNvSpPr>
          <p:nvPr>
            <p:ph type="title"/>
          </p:nvPr>
        </p:nvSpPr>
        <p:spPr/>
        <p:txBody>
          <a:bodyPr/>
          <a:lstStyle/>
          <a:p>
            <a:r>
              <a:rPr lang="en-US"/>
              <a:t>How specifications and constraints affected design</a:t>
            </a:r>
          </a:p>
        </p:txBody>
      </p:sp>
      <p:sp>
        <p:nvSpPr>
          <p:cNvPr id="3" name="Content Placeholder 2">
            <a:extLst>
              <a:ext uri="{FF2B5EF4-FFF2-40B4-BE49-F238E27FC236}">
                <a16:creationId xmlns:a16="http://schemas.microsoft.com/office/drawing/2014/main" id="{ACC5A37A-0F8D-BD21-A955-66F05E05B836}"/>
              </a:ext>
            </a:extLst>
          </p:cNvPr>
          <p:cNvSpPr>
            <a:spLocks noGrp="1"/>
          </p:cNvSpPr>
          <p:nvPr>
            <p:ph idx="1"/>
          </p:nvPr>
        </p:nvSpPr>
        <p:spPr>
          <a:xfrm>
            <a:off x="913795" y="2096063"/>
            <a:ext cx="10353762" cy="4443281"/>
          </a:xfrm>
        </p:spPr>
        <p:txBody>
          <a:bodyPr>
            <a:normAutofit/>
          </a:bodyPr>
          <a:lstStyle/>
          <a:p>
            <a:pPr>
              <a:lnSpc>
                <a:spcPct val="100000"/>
              </a:lnSpc>
            </a:pPr>
            <a:r>
              <a:rPr lang="en-US" sz="3200"/>
              <a:t>USB‑audio requirements shaped microphone selection, placement, and cable routing</a:t>
            </a:r>
          </a:p>
          <a:p>
            <a:pPr>
              <a:lnSpc>
                <a:spcPct val="100000"/>
              </a:lnSpc>
            </a:pPr>
            <a:r>
              <a:rPr lang="en-US" sz="3200"/>
              <a:t>Display‑legibility and timing constraints required a high‑contrast LCD with simplified update patterns</a:t>
            </a:r>
          </a:p>
          <a:p>
            <a:pPr>
              <a:lnSpc>
                <a:spcPct val="100000"/>
              </a:lnSpc>
            </a:pPr>
            <a:r>
              <a:rPr lang="en-US" sz="3200"/>
              <a:t>Thermal and environmental limits shaped enclosure openings, venting, and safe surface‑temperature design</a:t>
            </a:r>
          </a:p>
        </p:txBody>
      </p:sp>
      <p:sp>
        <p:nvSpPr>
          <p:cNvPr id="4" name="Slide Number Placeholder 3">
            <a:extLst>
              <a:ext uri="{FF2B5EF4-FFF2-40B4-BE49-F238E27FC236}">
                <a16:creationId xmlns:a16="http://schemas.microsoft.com/office/drawing/2014/main" id="{3C7C38A8-F417-46F6-BA9D-162B098C366F}"/>
              </a:ext>
            </a:extLst>
          </p:cNvPr>
          <p:cNvSpPr>
            <a:spLocks noGrp="1"/>
          </p:cNvSpPr>
          <p:nvPr>
            <p:ph type="sldNum" sz="quarter" idx="12"/>
          </p:nvPr>
        </p:nvSpPr>
        <p:spPr/>
        <p:txBody>
          <a:bodyPr/>
          <a:lstStyle/>
          <a:p>
            <a:fld id="{4072BC8D-D296-40C7-BB87-C3ACFF7B6C6E}" type="slidenum">
              <a:rPr lang="en-US" smtClean="0"/>
              <a:pPr/>
              <a:t>19</a:t>
            </a:fld>
            <a:endParaRPr lang="en-US"/>
          </a:p>
        </p:txBody>
      </p:sp>
    </p:spTree>
    <p:extLst>
      <p:ext uri="{BB962C8B-B14F-4D97-AF65-F5344CB8AC3E}">
        <p14:creationId xmlns:p14="http://schemas.microsoft.com/office/powerpoint/2010/main" val="390598762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06F7C-F9A3-B2A2-E6D0-9C84FA31D20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6E6A55E-9AEA-0DF5-0D40-D20E21221C91}"/>
              </a:ext>
            </a:extLst>
          </p:cNvPr>
          <p:cNvSpPr/>
          <p:nvPr/>
        </p:nvSpPr>
        <p:spPr>
          <a:xfrm>
            <a:off x="7587012" y="1935921"/>
            <a:ext cx="4364842" cy="312560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9ADBC2-86F6-0EA1-24B2-B47A4D15D022}"/>
              </a:ext>
            </a:extLst>
          </p:cNvPr>
          <p:cNvSpPr>
            <a:spLocks noGrp="1"/>
          </p:cNvSpPr>
          <p:nvPr>
            <p:ph type="title"/>
          </p:nvPr>
        </p:nvSpPr>
        <p:spPr>
          <a:xfrm>
            <a:off x="913795" y="609600"/>
            <a:ext cx="10353761" cy="1326321"/>
          </a:xfrm>
        </p:spPr>
        <p:txBody>
          <a:bodyPr>
            <a:normAutofit/>
          </a:bodyPr>
          <a:lstStyle/>
          <a:p>
            <a:r>
              <a:rPr lang="en-US"/>
              <a:t>Power Supply Unit</a:t>
            </a:r>
          </a:p>
        </p:txBody>
      </p:sp>
      <p:sp>
        <p:nvSpPr>
          <p:cNvPr id="3" name="Content Placeholder 2">
            <a:extLst>
              <a:ext uri="{FF2B5EF4-FFF2-40B4-BE49-F238E27FC236}">
                <a16:creationId xmlns:a16="http://schemas.microsoft.com/office/drawing/2014/main" id="{94F587AC-4F0F-301A-A3DA-8E9B2BBA827D}"/>
              </a:ext>
            </a:extLst>
          </p:cNvPr>
          <p:cNvSpPr>
            <a:spLocks noGrp="1"/>
          </p:cNvSpPr>
          <p:nvPr>
            <p:ph idx="1"/>
          </p:nvPr>
        </p:nvSpPr>
        <p:spPr>
          <a:xfrm>
            <a:off x="738909" y="1550561"/>
            <a:ext cx="6715335" cy="5118094"/>
          </a:xfrm>
        </p:spPr>
        <p:txBody>
          <a:bodyPr>
            <a:normAutofit/>
          </a:bodyPr>
          <a:lstStyle/>
          <a:p>
            <a:pPr>
              <a:lnSpc>
                <a:spcPct val="100000"/>
              </a:lnSpc>
            </a:pPr>
            <a:r>
              <a:rPr lang="en-US" sz="2400"/>
              <a:t>UPS HAT and 4×18650 cells supply stable 5V, pass-through charging, and UPS functionality</a:t>
            </a:r>
          </a:p>
          <a:p>
            <a:pPr>
              <a:lnSpc>
                <a:spcPct val="100000"/>
              </a:lnSpc>
            </a:pPr>
            <a:r>
              <a:rPr lang="en-US" sz="2400"/>
              <a:t>MT3608 boosts 5V to 12V for stepper motors/drivers</a:t>
            </a:r>
          </a:p>
          <a:p>
            <a:pPr>
              <a:lnSpc>
                <a:spcPct val="100000"/>
              </a:lnSpc>
            </a:pPr>
            <a:r>
              <a:rPr lang="en-US" sz="2400"/>
              <a:t>Power is split into fused branches: one 5V line for Pi, Control Unit, and peripherals with the level shifter connected to the Pi’s 3.3V UART and a 12V line supplying the TMC2209 motor drivers</a:t>
            </a:r>
          </a:p>
          <a:p>
            <a:pPr>
              <a:lnSpc>
                <a:spcPct val="100000"/>
              </a:lnSpc>
            </a:pPr>
            <a:r>
              <a:rPr lang="en-US" sz="2400"/>
              <a:t>Supports sleep mode and seamless UPS switchover</a:t>
            </a:r>
            <a:r>
              <a:rPr lang="en-US" sz="2400" b="1"/>
              <a:t> </a:t>
            </a:r>
          </a:p>
          <a:p>
            <a:pPr>
              <a:lnSpc>
                <a:spcPct val="110000"/>
              </a:lnSpc>
            </a:pPr>
            <a:endParaRPr lang="en-US"/>
          </a:p>
        </p:txBody>
      </p:sp>
      <p:sp>
        <p:nvSpPr>
          <p:cNvPr id="4" name="Slide Number Placeholder 3">
            <a:extLst>
              <a:ext uri="{FF2B5EF4-FFF2-40B4-BE49-F238E27FC236}">
                <a16:creationId xmlns:a16="http://schemas.microsoft.com/office/drawing/2014/main" id="{1E640FC5-A9BC-CC0A-6DC5-9D7F7479EB92}"/>
              </a:ext>
            </a:extLst>
          </p:cNvPr>
          <p:cNvSpPr>
            <a:spLocks noGrp="1"/>
          </p:cNvSpPr>
          <p:nvPr>
            <p:ph type="sldNum" sz="quarter" idx="12"/>
          </p:nvPr>
        </p:nvSpPr>
        <p:spPr>
          <a:xfrm>
            <a:off x="10514011" y="5883275"/>
            <a:ext cx="753545" cy="365125"/>
          </a:xfrm>
        </p:spPr>
        <p:txBody>
          <a:bodyPr>
            <a:normAutofit/>
          </a:bodyPr>
          <a:lstStyle/>
          <a:p>
            <a:fld id="{4072BC8D-D296-40C7-BB87-C3ACFF7B6C6E}" type="slidenum">
              <a:rPr lang="en-US"/>
              <a:pPr/>
              <a:t>20</a:t>
            </a:fld>
            <a:endParaRPr lang="en-US"/>
          </a:p>
        </p:txBody>
      </p:sp>
      <p:sp>
        <p:nvSpPr>
          <p:cNvPr id="10" name="AutoShape 6" descr="Overhead shot of square-shaped motor driver breakout with green terminal blocks.">
            <a:extLst>
              <a:ext uri="{FF2B5EF4-FFF2-40B4-BE49-F238E27FC236}">
                <a16:creationId xmlns:a16="http://schemas.microsoft.com/office/drawing/2014/main" id="{B92B3951-74FC-ABA3-63EC-1F714B2D7F2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3" descr="Amazon.com: JESSPOW 4 Pack I865O 3.7 Volt Button Top Rechargeable  Batteries,Lithium Battery 3300mAh for Flashlights, Headlamps, Doorbells, RC  Cars,Outdoor Garden Lights : Toys &amp; Games">
            <a:extLst>
              <a:ext uri="{FF2B5EF4-FFF2-40B4-BE49-F238E27FC236}">
                <a16:creationId xmlns:a16="http://schemas.microsoft.com/office/drawing/2014/main" id="{0201B0C2-A3E7-6736-7DA5-C1D64F74C5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423"/>
          <a:stretch>
            <a:fillRect/>
          </a:stretch>
        </p:blipFill>
        <p:spPr bwMode="auto">
          <a:xfrm>
            <a:off x="7651665" y="2391344"/>
            <a:ext cx="2108850" cy="23994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Raspberry Pi 5 18650 Battery UPS Hat (5.1V 5A)">
            <a:extLst>
              <a:ext uri="{FF2B5EF4-FFF2-40B4-BE49-F238E27FC236}">
                <a16:creationId xmlns:a16="http://schemas.microsoft.com/office/drawing/2014/main" id="{6BB55B18-EC00-9083-7D7A-061E42FD4E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334" t="15848" r="19410" b="11632"/>
          <a:stretch>
            <a:fillRect/>
          </a:stretch>
        </p:blipFill>
        <p:spPr bwMode="auto">
          <a:xfrm>
            <a:off x="9972945" y="2300765"/>
            <a:ext cx="1781488" cy="14803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ITRIP 10pcs MT3608 DC-DC Boost Converter 2A Adjustable Step Up Module Voltage Regulator Board Input Voltage 2V-24V to 5V-28V Output Voltage for Arduino">
            <a:extLst>
              <a:ext uri="{FF2B5EF4-FFF2-40B4-BE49-F238E27FC236}">
                <a16:creationId xmlns:a16="http://schemas.microsoft.com/office/drawing/2014/main" id="{47B8F721-26B9-0371-0594-0BDA8DBC9C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61073" b="82837"/>
          <a:stretch>
            <a:fillRect/>
          </a:stretch>
        </p:blipFill>
        <p:spPr bwMode="auto">
          <a:xfrm>
            <a:off x="9813829" y="3817082"/>
            <a:ext cx="2108850" cy="961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996078"/>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1871-DD2A-1A30-EDAB-A0ABC7F46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1E240-A2F1-674F-5DAE-261EBFAACF7E}"/>
              </a:ext>
            </a:extLst>
          </p:cNvPr>
          <p:cNvSpPr>
            <a:spLocks noGrp="1"/>
          </p:cNvSpPr>
          <p:nvPr>
            <p:ph type="title"/>
          </p:nvPr>
        </p:nvSpPr>
        <p:spPr/>
        <p:txBody>
          <a:bodyPr/>
          <a:lstStyle/>
          <a:p>
            <a:r>
              <a:rPr lang="en-US"/>
              <a:t>How specifications and constraints affected design</a:t>
            </a:r>
          </a:p>
        </p:txBody>
      </p:sp>
      <p:sp>
        <p:nvSpPr>
          <p:cNvPr id="3" name="Content Placeholder 2">
            <a:extLst>
              <a:ext uri="{FF2B5EF4-FFF2-40B4-BE49-F238E27FC236}">
                <a16:creationId xmlns:a16="http://schemas.microsoft.com/office/drawing/2014/main" id="{76F0618E-2F09-88A8-473C-B62752A41205}"/>
              </a:ext>
            </a:extLst>
          </p:cNvPr>
          <p:cNvSpPr>
            <a:spLocks noGrp="1"/>
          </p:cNvSpPr>
          <p:nvPr>
            <p:ph idx="1"/>
          </p:nvPr>
        </p:nvSpPr>
        <p:spPr>
          <a:xfrm>
            <a:off x="913795" y="2096063"/>
            <a:ext cx="10353762" cy="4692663"/>
          </a:xfrm>
        </p:spPr>
        <p:txBody>
          <a:bodyPr vert="horz" lIns="91440" tIns="45720" rIns="91440" bIns="45720" rtlCol="0" anchor="t">
            <a:normAutofit lnSpcReduction="10000"/>
          </a:bodyPr>
          <a:lstStyle/>
          <a:p>
            <a:pPr>
              <a:lnSpc>
                <a:spcPct val="100000"/>
              </a:lnSpc>
            </a:pPr>
            <a:r>
              <a:rPr lang="en-US" sz="3200"/>
              <a:t>Separate fused rails (5V logic, 12V motors) were required to prevent noise coupling and protect sensitive electronics</a:t>
            </a:r>
          </a:p>
          <a:p>
            <a:pPr>
              <a:lnSpc>
                <a:spcPct val="100000"/>
              </a:lnSpc>
            </a:pPr>
            <a:r>
              <a:rPr lang="en-US" sz="3200"/>
              <a:t>Runtime, load current, and voltage‑stability requirements drove the choice of UPS HAT, battery capacity, and regulated 5V distribution</a:t>
            </a:r>
          </a:p>
          <a:p>
            <a:pPr>
              <a:lnSpc>
                <a:spcPct val="100000"/>
              </a:lnSpc>
            </a:pPr>
            <a:r>
              <a:rPr lang="en-US" sz="3200"/>
              <a:t>Electrical safety and wiring standards shaped grounding, insulation, conductor sizing, and overcurrent protection</a:t>
            </a:r>
          </a:p>
        </p:txBody>
      </p:sp>
      <p:sp>
        <p:nvSpPr>
          <p:cNvPr id="4" name="Slide Number Placeholder 3">
            <a:extLst>
              <a:ext uri="{FF2B5EF4-FFF2-40B4-BE49-F238E27FC236}">
                <a16:creationId xmlns:a16="http://schemas.microsoft.com/office/drawing/2014/main" id="{15BBDEF4-BA89-96BD-E685-F231852EFB76}"/>
              </a:ext>
            </a:extLst>
          </p:cNvPr>
          <p:cNvSpPr>
            <a:spLocks noGrp="1"/>
          </p:cNvSpPr>
          <p:nvPr>
            <p:ph type="sldNum" sz="quarter" idx="12"/>
          </p:nvPr>
        </p:nvSpPr>
        <p:spPr/>
        <p:txBody>
          <a:bodyPr/>
          <a:lstStyle/>
          <a:p>
            <a:fld id="{4072BC8D-D296-40C7-BB87-C3ACFF7B6C6E}" type="slidenum">
              <a:rPr lang="en-US" smtClean="0"/>
              <a:pPr/>
              <a:t>21</a:t>
            </a:fld>
            <a:endParaRPr lang="en-US"/>
          </a:p>
        </p:txBody>
      </p:sp>
    </p:spTree>
    <p:extLst>
      <p:ext uri="{BB962C8B-B14F-4D97-AF65-F5344CB8AC3E}">
        <p14:creationId xmlns:p14="http://schemas.microsoft.com/office/powerpoint/2010/main" val="185392566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4F875-D95C-8E95-11EB-1EFF43483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23207-7B09-9CB0-F1F6-4E69B49F1C66}"/>
              </a:ext>
            </a:extLst>
          </p:cNvPr>
          <p:cNvSpPr>
            <a:spLocks noGrp="1"/>
          </p:cNvSpPr>
          <p:nvPr>
            <p:ph type="title"/>
          </p:nvPr>
        </p:nvSpPr>
        <p:spPr>
          <a:xfrm>
            <a:off x="913795" y="147791"/>
            <a:ext cx="10353761" cy="1326321"/>
          </a:xfrm>
        </p:spPr>
        <p:txBody>
          <a:bodyPr/>
          <a:lstStyle/>
          <a:p>
            <a:r>
              <a:rPr lang="en-US"/>
              <a:t>Outline</a:t>
            </a:r>
          </a:p>
        </p:txBody>
      </p:sp>
      <p:sp>
        <p:nvSpPr>
          <p:cNvPr id="3" name="Content Placeholder 2">
            <a:extLst>
              <a:ext uri="{FF2B5EF4-FFF2-40B4-BE49-F238E27FC236}">
                <a16:creationId xmlns:a16="http://schemas.microsoft.com/office/drawing/2014/main" id="{B75D9F36-DCB0-AD97-FE7B-C20A9834BB11}"/>
              </a:ext>
            </a:extLst>
          </p:cNvPr>
          <p:cNvSpPr>
            <a:spLocks noGrp="1"/>
          </p:cNvSpPr>
          <p:nvPr>
            <p:ph idx="1"/>
          </p:nvPr>
        </p:nvSpPr>
        <p:spPr>
          <a:xfrm>
            <a:off x="913795" y="1016000"/>
            <a:ext cx="10353762" cy="4294909"/>
          </a:xfrm>
        </p:spPr>
        <p:txBody>
          <a:bodyPr>
            <a:noAutofit/>
          </a:bodyPr>
          <a:lstStyle/>
          <a:p>
            <a:r>
              <a:rPr lang="en-US" sz="3600">
                <a:solidFill>
                  <a:schemeClr val="tx1">
                    <a:lumMod val="85000"/>
                  </a:schemeClr>
                </a:solidFill>
              </a:rPr>
              <a:t>Problem Formulation</a:t>
            </a:r>
          </a:p>
          <a:p>
            <a:r>
              <a:rPr lang="en-US" sz="3600">
                <a:solidFill>
                  <a:schemeClr val="tx1">
                    <a:lumMod val="85000"/>
                  </a:schemeClr>
                </a:solidFill>
              </a:rPr>
              <a:t>Standards, Ethics, and Broader Impacts</a:t>
            </a:r>
          </a:p>
          <a:p>
            <a:r>
              <a:rPr lang="en-US" sz="3600">
                <a:solidFill>
                  <a:schemeClr val="tx1">
                    <a:lumMod val="85000"/>
                  </a:schemeClr>
                </a:solidFill>
              </a:rPr>
              <a:t>Overview of Conceptual Design</a:t>
            </a:r>
          </a:p>
          <a:p>
            <a:r>
              <a:rPr lang="en-US" sz="3600">
                <a:solidFill>
                  <a:schemeClr val="tx1">
                    <a:lumMod val="85000"/>
                  </a:schemeClr>
                </a:solidFill>
              </a:rPr>
              <a:t>Detailed Design</a:t>
            </a:r>
          </a:p>
          <a:p>
            <a:r>
              <a:rPr lang="en-US" sz="3600" b="1"/>
              <a:t>Implementation and Experimentation</a:t>
            </a:r>
          </a:p>
          <a:p>
            <a:r>
              <a:rPr lang="en-US" sz="3600">
                <a:solidFill>
                  <a:schemeClr val="tx1">
                    <a:lumMod val="85000"/>
                  </a:schemeClr>
                </a:solidFill>
              </a:rPr>
              <a:t>Demonstration</a:t>
            </a:r>
          </a:p>
          <a:p>
            <a:r>
              <a:rPr lang="en-US" sz="3600">
                <a:solidFill>
                  <a:schemeClr val="tx1">
                    <a:lumMod val="85000"/>
                  </a:schemeClr>
                </a:solidFill>
              </a:rPr>
              <a:t>Lessons Learned</a:t>
            </a:r>
          </a:p>
        </p:txBody>
      </p:sp>
      <p:sp>
        <p:nvSpPr>
          <p:cNvPr id="4" name="Slide Number Placeholder 3">
            <a:extLst>
              <a:ext uri="{FF2B5EF4-FFF2-40B4-BE49-F238E27FC236}">
                <a16:creationId xmlns:a16="http://schemas.microsoft.com/office/drawing/2014/main" id="{B8119D98-178E-31EB-920C-051A14C022DB}"/>
              </a:ext>
            </a:extLst>
          </p:cNvPr>
          <p:cNvSpPr>
            <a:spLocks noGrp="1"/>
          </p:cNvSpPr>
          <p:nvPr>
            <p:ph type="sldNum" sz="quarter" idx="12"/>
          </p:nvPr>
        </p:nvSpPr>
        <p:spPr/>
        <p:txBody>
          <a:bodyPr/>
          <a:lstStyle/>
          <a:p>
            <a:fld id="{4072BC8D-D296-40C7-BB87-C3ACFF7B6C6E}" type="slidenum">
              <a:rPr lang="en-US" smtClean="0"/>
              <a:pPr/>
              <a:t>22</a:t>
            </a:fld>
            <a:endParaRPr lang="en-US"/>
          </a:p>
        </p:txBody>
      </p:sp>
    </p:spTree>
    <p:extLst>
      <p:ext uri="{BB962C8B-B14F-4D97-AF65-F5344CB8AC3E}">
        <p14:creationId xmlns:p14="http://schemas.microsoft.com/office/powerpoint/2010/main" val="2944710873"/>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6AAC5-386E-739D-79A9-2F1A9AFCD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CC5D1-676E-2064-5190-C9513EDE9227}"/>
              </a:ext>
            </a:extLst>
          </p:cNvPr>
          <p:cNvSpPr>
            <a:spLocks noGrp="1"/>
          </p:cNvSpPr>
          <p:nvPr>
            <p:ph type="title"/>
          </p:nvPr>
        </p:nvSpPr>
        <p:spPr/>
        <p:txBody>
          <a:bodyPr/>
          <a:lstStyle/>
          <a:p>
            <a:r>
              <a:rPr lang="en-US"/>
              <a:t>Implementation Peripherals unit </a:t>
            </a:r>
          </a:p>
        </p:txBody>
      </p:sp>
      <p:sp>
        <p:nvSpPr>
          <p:cNvPr id="3" name="Content Placeholder 2">
            <a:extLst>
              <a:ext uri="{FF2B5EF4-FFF2-40B4-BE49-F238E27FC236}">
                <a16:creationId xmlns:a16="http://schemas.microsoft.com/office/drawing/2014/main" id="{C424F7A0-4D8B-6B74-5851-FB74C28EDE1C}"/>
              </a:ext>
            </a:extLst>
          </p:cNvPr>
          <p:cNvSpPr>
            <a:spLocks noGrp="1"/>
          </p:cNvSpPr>
          <p:nvPr>
            <p:ph idx="1"/>
          </p:nvPr>
        </p:nvSpPr>
        <p:spPr>
          <a:xfrm>
            <a:off x="913794" y="1623153"/>
            <a:ext cx="10353762" cy="4905663"/>
          </a:xfrm>
        </p:spPr>
        <p:txBody>
          <a:bodyPr vert="horz" lIns="91440" tIns="45720" rIns="91440" bIns="45720" rtlCol="0" anchor="t">
            <a:normAutofit/>
          </a:bodyPr>
          <a:lstStyle/>
          <a:p>
            <a:r>
              <a:rPr lang="en-US"/>
              <a:t>Started by cutting wood and gluing base together, then cutting acrylic top to fit board.</a:t>
            </a:r>
          </a:p>
          <a:p>
            <a:r>
              <a:rPr lang="en-US"/>
              <a:t>After original acrylic top broke when drilling, decided to laser cut/engrave new sheet with cutout for LCD screen.</a:t>
            </a:r>
          </a:p>
          <a:p>
            <a:r>
              <a:rPr lang="en-US" err="1"/>
              <a:t>CoreXY</a:t>
            </a:r>
            <a:r>
              <a:rPr lang="en-US"/>
              <a:t> took more space than expected to reach full play area, had to scale down play area size from 2.5 to 2.25 inch/square, then cut 0.5 inch indent into side of base to allow full range and leave space for the processing and power units.</a:t>
            </a:r>
          </a:p>
          <a:p>
            <a:r>
              <a:rPr lang="en-US"/>
              <a:t>Pieces were 3d printed. 1 inch diameter, with differing heights for each piece, and added 5/8 inch hole in each base for magnets.</a:t>
            </a:r>
          </a:p>
          <a:p>
            <a:r>
              <a:rPr lang="en-US"/>
              <a:t>Made cutouts for intake fans, exhaust vents, and USB coupler.</a:t>
            </a:r>
          </a:p>
          <a:p>
            <a:r>
              <a:rPr lang="en-US"/>
              <a:t>Designed mount for PSU/PU, then superglued fans and mount in place.</a:t>
            </a:r>
          </a:p>
          <a:p>
            <a:endParaRPr lang="en-US"/>
          </a:p>
          <a:p>
            <a:pPr marL="0" indent="0">
              <a:buNone/>
            </a:pPr>
            <a:endParaRPr lang="en-US"/>
          </a:p>
          <a:p>
            <a:pPr marL="0" indent="0">
              <a:buNone/>
            </a:pPr>
            <a:endParaRPr lang="en-US"/>
          </a:p>
          <a:p>
            <a:pPr marL="0" indent="0">
              <a:buNone/>
            </a:pPr>
            <a:endParaRPr lang="en-US"/>
          </a:p>
          <a:p>
            <a:pPr marL="0" indent="0">
              <a:buNone/>
            </a:pPr>
            <a:endParaRPr lang="en-US"/>
          </a:p>
          <a:p>
            <a:endParaRPr lang="en-US"/>
          </a:p>
        </p:txBody>
      </p:sp>
      <p:sp>
        <p:nvSpPr>
          <p:cNvPr id="4" name="Slide Number Placeholder 3">
            <a:extLst>
              <a:ext uri="{FF2B5EF4-FFF2-40B4-BE49-F238E27FC236}">
                <a16:creationId xmlns:a16="http://schemas.microsoft.com/office/drawing/2014/main" id="{6CD3849B-E338-6874-19BF-4D3E6292C2BF}"/>
              </a:ext>
            </a:extLst>
          </p:cNvPr>
          <p:cNvSpPr>
            <a:spLocks noGrp="1"/>
          </p:cNvSpPr>
          <p:nvPr>
            <p:ph type="sldNum" sz="quarter" idx="12"/>
          </p:nvPr>
        </p:nvSpPr>
        <p:spPr/>
        <p:txBody>
          <a:bodyPr/>
          <a:lstStyle/>
          <a:p>
            <a:fld id="{4072BC8D-D296-40C7-BB87-C3ACFF7B6C6E}" type="slidenum">
              <a:rPr lang="en-US" smtClean="0"/>
              <a:pPr/>
              <a:t>23</a:t>
            </a:fld>
            <a:endParaRPr lang="en-US"/>
          </a:p>
        </p:txBody>
      </p:sp>
    </p:spTree>
    <p:extLst>
      <p:ext uri="{BB962C8B-B14F-4D97-AF65-F5344CB8AC3E}">
        <p14:creationId xmlns:p14="http://schemas.microsoft.com/office/powerpoint/2010/main" val="3602328090"/>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D8D30-EBBE-2E26-72D0-12CB3CF05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FED8F-8EFF-9AD6-72E1-A166C390E5CB}"/>
              </a:ext>
            </a:extLst>
          </p:cNvPr>
          <p:cNvSpPr>
            <a:spLocks noGrp="1"/>
          </p:cNvSpPr>
          <p:nvPr>
            <p:ph type="title"/>
          </p:nvPr>
        </p:nvSpPr>
        <p:spPr/>
        <p:txBody>
          <a:bodyPr/>
          <a:lstStyle/>
          <a:p>
            <a:r>
              <a:rPr lang="en-US"/>
              <a:t>Implementation corexy unit </a:t>
            </a:r>
          </a:p>
        </p:txBody>
      </p:sp>
      <p:sp>
        <p:nvSpPr>
          <p:cNvPr id="3" name="Content Placeholder 2">
            <a:extLst>
              <a:ext uri="{FF2B5EF4-FFF2-40B4-BE49-F238E27FC236}">
                <a16:creationId xmlns:a16="http://schemas.microsoft.com/office/drawing/2014/main" id="{ED97F677-D35F-5D65-E9E0-C7D134A1D9C7}"/>
              </a:ext>
            </a:extLst>
          </p:cNvPr>
          <p:cNvSpPr>
            <a:spLocks noGrp="1"/>
          </p:cNvSpPr>
          <p:nvPr>
            <p:ph idx="1"/>
          </p:nvPr>
        </p:nvSpPr>
        <p:spPr>
          <a:xfrm>
            <a:off x="913794" y="1623153"/>
            <a:ext cx="10353762" cy="4625247"/>
          </a:xfrm>
        </p:spPr>
        <p:txBody>
          <a:bodyPr vert="horz" lIns="91440" tIns="45720" rIns="91440" bIns="45720" rtlCol="0" anchor="t">
            <a:normAutofit lnSpcReduction="10000"/>
          </a:bodyPr>
          <a:lstStyle/>
          <a:p>
            <a:pPr>
              <a:lnSpc>
                <a:spcPct val="110000"/>
              </a:lnSpc>
            </a:pPr>
            <a:r>
              <a:rPr lang="en-US"/>
              <a:t>Many of the 3D printed parts required re-designing and reprinting to work with the tolerances of our actual physical materials </a:t>
            </a:r>
          </a:p>
          <a:p>
            <a:pPr>
              <a:lnSpc>
                <a:spcPct val="110000"/>
              </a:lnSpc>
            </a:pPr>
            <a:r>
              <a:rPr lang="en-US"/>
              <a:t>The frame had to be rebuilt multiple times, including a full re‑dimensioning after the board top changed size</a:t>
            </a:r>
          </a:p>
          <a:p>
            <a:pPr>
              <a:lnSpc>
                <a:spcPct val="110000"/>
              </a:lnSpc>
            </a:pPr>
            <a:r>
              <a:rPr lang="en-US"/>
              <a:t>Cutting the extrusions too short forced a redesign, stretching the frame and reprinting parts to fit the undersized rails</a:t>
            </a:r>
          </a:p>
          <a:p>
            <a:pPr>
              <a:lnSpc>
                <a:spcPct val="110000"/>
              </a:lnSpc>
            </a:pPr>
            <a:r>
              <a:rPr lang="en-US"/>
              <a:t>Initial squareness issues were solved by adding additional corner brackets to stiffen the frame </a:t>
            </a:r>
          </a:p>
          <a:p>
            <a:pPr>
              <a:lnSpc>
                <a:spcPct val="110000"/>
              </a:lnSpc>
            </a:pPr>
            <a:r>
              <a:rPr lang="en-US"/>
              <a:t>Belt tensioning was trial‑and‑error; occasional skipping was fixed by re-tensioning and realigning the belts </a:t>
            </a:r>
          </a:p>
          <a:p>
            <a:pPr>
              <a:lnSpc>
                <a:spcPct val="110000"/>
              </a:lnSpc>
            </a:pPr>
            <a:r>
              <a:rPr lang="en-US"/>
              <a:t>The electromagnet mount could not be configured in a way that will reliably pick up and drop all pieces due to the nature of the acrylic</a:t>
            </a:r>
          </a:p>
          <a:p>
            <a:pPr>
              <a:lnSpc>
                <a:spcPct val="110000"/>
              </a:lnSpc>
            </a:pPr>
            <a:endParaRPr lang="en-US"/>
          </a:p>
        </p:txBody>
      </p:sp>
      <p:sp>
        <p:nvSpPr>
          <p:cNvPr id="4" name="Slide Number Placeholder 3">
            <a:extLst>
              <a:ext uri="{FF2B5EF4-FFF2-40B4-BE49-F238E27FC236}">
                <a16:creationId xmlns:a16="http://schemas.microsoft.com/office/drawing/2014/main" id="{AFE2226B-8EA1-7618-C457-61BEFCD1CA08}"/>
              </a:ext>
            </a:extLst>
          </p:cNvPr>
          <p:cNvSpPr>
            <a:spLocks noGrp="1"/>
          </p:cNvSpPr>
          <p:nvPr>
            <p:ph type="sldNum" sz="quarter" idx="12"/>
          </p:nvPr>
        </p:nvSpPr>
        <p:spPr/>
        <p:txBody>
          <a:bodyPr/>
          <a:lstStyle/>
          <a:p>
            <a:fld id="{4072BC8D-D296-40C7-BB87-C3ACFF7B6C6E}" type="slidenum">
              <a:rPr lang="en-US" smtClean="0"/>
              <a:pPr/>
              <a:t>24</a:t>
            </a:fld>
            <a:endParaRPr lang="en-US"/>
          </a:p>
        </p:txBody>
      </p:sp>
    </p:spTree>
    <p:extLst>
      <p:ext uri="{BB962C8B-B14F-4D97-AF65-F5344CB8AC3E}">
        <p14:creationId xmlns:p14="http://schemas.microsoft.com/office/powerpoint/2010/main" val="3093508685"/>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544A6-88DA-9CAB-D344-A51E8E48B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6C2EE-7CDD-B54C-9BFA-5B072233D34E}"/>
              </a:ext>
            </a:extLst>
          </p:cNvPr>
          <p:cNvSpPr>
            <a:spLocks noGrp="1"/>
          </p:cNvSpPr>
          <p:nvPr>
            <p:ph type="title"/>
          </p:nvPr>
        </p:nvSpPr>
        <p:spPr/>
        <p:txBody>
          <a:bodyPr/>
          <a:lstStyle/>
          <a:p>
            <a:r>
              <a:rPr lang="en-US"/>
              <a:t>Implementation Power supply unit </a:t>
            </a:r>
          </a:p>
        </p:txBody>
      </p:sp>
      <p:sp>
        <p:nvSpPr>
          <p:cNvPr id="3" name="Content Placeholder 2">
            <a:extLst>
              <a:ext uri="{FF2B5EF4-FFF2-40B4-BE49-F238E27FC236}">
                <a16:creationId xmlns:a16="http://schemas.microsoft.com/office/drawing/2014/main" id="{5C83575A-E416-CC7E-77ED-B7F51431A7CD}"/>
              </a:ext>
            </a:extLst>
          </p:cNvPr>
          <p:cNvSpPr>
            <a:spLocks noGrp="1"/>
          </p:cNvSpPr>
          <p:nvPr>
            <p:ph idx="1"/>
          </p:nvPr>
        </p:nvSpPr>
        <p:spPr>
          <a:xfrm>
            <a:off x="913794" y="1623153"/>
            <a:ext cx="10353762" cy="4625247"/>
          </a:xfrm>
        </p:spPr>
        <p:txBody>
          <a:bodyPr vert="horz" lIns="91440" tIns="45720" rIns="91440" bIns="45720" rtlCol="0" anchor="t">
            <a:noAutofit/>
          </a:bodyPr>
          <a:lstStyle/>
          <a:p>
            <a:pPr>
              <a:lnSpc>
                <a:spcPct val="100000"/>
              </a:lnSpc>
            </a:pPr>
            <a:r>
              <a:rPr lang="en-US" sz="1800" err="1">
                <a:ea typeface="+mn-lt"/>
                <a:cs typeface="+mn-lt"/>
              </a:rPr>
              <a:t>DFRobot</a:t>
            </a:r>
            <a:r>
              <a:rPr lang="en-US" sz="1800">
                <a:ea typeface="+mn-lt"/>
                <a:cs typeface="+mn-lt"/>
              </a:rPr>
              <a:t> UPS HAT was mounted directly on the Raspberry Pi 5 GPIO header, integrating the 4×18650 battery pack for stable 5 V output, pass-through charging, and automatic UPS switchover</a:t>
            </a:r>
            <a:endParaRPr lang="en-US" sz="1800"/>
          </a:p>
          <a:p>
            <a:pPr>
              <a:lnSpc>
                <a:spcPct val="100000"/>
              </a:lnSpc>
            </a:pPr>
            <a:r>
              <a:rPr lang="en-US" sz="1800">
                <a:ea typeface="+mn-lt"/>
                <a:cs typeface="+mn-lt"/>
              </a:rPr>
              <a:t>Battery cells were voltage-matched prior to installation to ensure balanced discharge and reliable runtime </a:t>
            </a:r>
          </a:p>
          <a:p>
            <a:pPr>
              <a:lnSpc>
                <a:spcPct val="100000"/>
              </a:lnSpc>
            </a:pPr>
            <a:r>
              <a:rPr lang="en-US" sz="1800">
                <a:ea typeface="+mn-lt"/>
                <a:cs typeface="+mn-lt"/>
              </a:rPr>
              <a:t>Two MT3608 boost converters were wired in parallel to generate the dedicated 12 V rail for the TMC2209 drivers, stepper motors, and electromagnet </a:t>
            </a:r>
          </a:p>
          <a:p>
            <a:pPr>
              <a:lnSpc>
                <a:spcPct val="100000"/>
              </a:lnSpc>
            </a:pPr>
            <a:r>
              <a:rPr lang="en-US" sz="1800">
                <a:ea typeface="+mn-lt"/>
                <a:cs typeface="+mn-lt"/>
              </a:rPr>
              <a:t>Power distribution was split into fused branches (5 V logic rail for Pi/Control Unit/peripherals and 12 V motor rail) with inline fuses and a shared DC ground reference </a:t>
            </a:r>
          </a:p>
          <a:p>
            <a:pPr>
              <a:lnSpc>
                <a:spcPct val="100000"/>
              </a:lnSpc>
            </a:pPr>
            <a:r>
              <a:rPr lang="en-US" sz="1800">
                <a:ea typeface="+mn-lt"/>
                <a:cs typeface="+mn-lt"/>
              </a:rPr>
              <a:t>Peak-load testing identified minor 5 V ripple excursions under simultaneous Pi + motor + electromagnet draw; additional bulk capacitance was planned for future revisions </a:t>
            </a:r>
          </a:p>
          <a:p>
            <a:pPr>
              <a:lnSpc>
                <a:spcPct val="100000"/>
              </a:lnSpc>
            </a:pPr>
            <a:r>
              <a:rPr lang="en-US" sz="1800">
                <a:ea typeface="+mn-lt"/>
                <a:cs typeface="+mn-lt"/>
              </a:rPr>
              <a:t>Overall subsystem performed reliably, delivering seamless 0 </a:t>
            </a:r>
            <a:r>
              <a:rPr lang="en-US" sz="1800" err="1">
                <a:ea typeface="+mn-lt"/>
                <a:cs typeface="+mn-lt"/>
              </a:rPr>
              <a:t>ms</a:t>
            </a:r>
            <a:r>
              <a:rPr lang="en-US" sz="1800">
                <a:ea typeface="+mn-lt"/>
                <a:cs typeface="+mn-lt"/>
              </a:rPr>
              <a:t> UPS transitions, &gt;2-hour battery runtime under full gameplay, and stable voltage regulation across all operating states</a:t>
            </a:r>
            <a:endParaRPr lang="en-US" sz="1800"/>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2F69FDBE-666A-9B94-7412-32E5AAFC1336}"/>
              </a:ext>
            </a:extLst>
          </p:cNvPr>
          <p:cNvSpPr>
            <a:spLocks noGrp="1"/>
          </p:cNvSpPr>
          <p:nvPr>
            <p:ph type="sldNum" sz="quarter" idx="12"/>
          </p:nvPr>
        </p:nvSpPr>
        <p:spPr/>
        <p:txBody>
          <a:bodyPr/>
          <a:lstStyle/>
          <a:p>
            <a:fld id="{4072BC8D-D296-40C7-BB87-C3ACFF7B6C6E}" type="slidenum">
              <a:rPr lang="en-US" smtClean="0"/>
              <a:pPr/>
              <a:t>25</a:t>
            </a:fld>
            <a:endParaRPr lang="en-US"/>
          </a:p>
        </p:txBody>
      </p:sp>
    </p:spTree>
    <p:extLst>
      <p:ext uri="{BB962C8B-B14F-4D97-AF65-F5344CB8AC3E}">
        <p14:creationId xmlns:p14="http://schemas.microsoft.com/office/powerpoint/2010/main" val="906226331"/>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0CFB8-3C07-DB9F-C75E-CAFAF8776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F1EA3-13A1-0A0D-B01B-1BF21CE89391}"/>
              </a:ext>
            </a:extLst>
          </p:cNvPr>
          <p:cNvSpPr>
            <a:spLocks noGrp="1"/>
          </p:cNvSpPr>
          <p:nvPr>
            <p:ph type="title"/>
          </p:nvPr>
        </p:nvSpPr>
        <p:spPr/>
        <p:txBody>
          <a:bodyPr/>
          <a:lstStyle/>
          <a:p>
            <a:r>
              <a:rPr lang="en-US"/>
              <a:t>Software</a:t>
            </a:r>
          </a:p>
        </p:txBody>
      </p:sp>
      <p:sp>
        <p:nvSpPr>
          <p:cNvPr id="3" name="Content Placeholder 2">
            <a:extLst>
              <a:ext uri="{FF2B5EF4-FFF2-40B4-BE49-F238E27FC236}">
                <a16:creationId xmlns:a16="http://schemas.microsoft.com/office/drawing/2014/main" id="{FB695405-4EAA-CB95-C728-BCD5E1A91D43}"/>
              </a:ext>
            </a:extLst>
          </p:cNvPr>
          <p:cNvSpPr>
            <a:spLocks noGrp="1"/>
          </p:cNvSpPr>
          <p:nvPr>
            <p:ph idx="1"/>
          </p:nvPr>
        </p:nvSpPr>
        <p:spPr>
          <a:xfrm>
            <a:off x="508476" y="1715025"/>
            <a:ext cx="11175208" cy="4992737"/>
          </a:xfrm>
        </p:spPr>
        <p:txBody>
          <a:bodyPr vert="horz" lIns="91440" tIns="45720" rIns="91440" bIns="45720" rtlCol="0" anchor="t">
            <a:normAutofit fontScale="70000" lnSpcReduction="20000"/>
          </a:bodyPr>
          <a:lstStyle/>
          <a:p>
            <a:r>
              <a:rPr lang="en-US" sz="2300" b="1">
                <a:ea typeface="+mn-lt"/>
                <a:cs typeface="+mn-lt"/>
              </a:rPr>
              <a:t>Multithreaded architecture: </a:t>
            </a:r>
            <a:r>
              <a:rPr lang="en-US" sz="2300">
                <a:ea typeface="+mn-lt"/>
                <a:cs typeface="+mn-lt"/>
              </a:rPr>
              <a:t>three threads handle audio capture, </a:t>
            </a:r>
            <a:r>
              <a:rPr lang="en-US" sz="2300" err="1">
                <a:ea typeface="+mn-lt"/>
                <a:cs typeface="+mn-lt"/>
              </a:rPr>
              <a:t>Vosk</a:t>
            </a:r>
            <a:r>
              <a:rPr lang="en-US" sz="2300">
                <a:ea typeface="+mn-lt"/>
                <a:cs typeface="+mn-lt"/>
              </a:rPr>
              <a:t> speech recognition, and the main game loop independently so voice input never blocks physical board execution</a:t>
            </a:r>
            <a:endParaRPr lang="en-US" sz="2300"/>
          </a:p>
          <a:p>
            <a:r>
              <a:rPr lang="en-US" sz="2300" b="1">
                <a:ea typeface="+mn-lt"/>
                <a:cs typeface="+mn-lt"/>
              </a:rPr>
              <a:t>Voice pipeline: </a:t>
            </a:r>
            <a:r>
              <a:rPr lang="en-US" sz="2300">
                <a:ea typeface="+mn-lt"/>
                <a:cs typeface="+mn-lt"/>
              </a:rPr>
              <a:t> </a:t>
            </a:r>
            <a:r>
              <a:rPr lang="en-US" sz="2300" err="1">
                <a:ea typeface="+mn-lt"/>
                <a:cs typeface="+mn-lt"/>
              </a:rPr>
              <a:t>Vosk</a:t>
            </a:r>
            <a:r>
              <a:rPr lang="en-US" sz="2300">
                <a:ea typeface="+mn-lt"/>
                <a:cs typeface="+mn-lt"/>
              </a:rPr>
              <a:t> runs on the device with a limited grammar of chess words, this stops false triggers and protects audio privacy without any internet</a:t>
            </a:r>
            <a:endParaRPr lang="en-US" sz="2300"/>
          </a:p>
          <a:p>
            <a:r>
              <a:rPr lang="en-US" sz="2300" b="1">
                <a:ea typeface="+mn-lt"/>
                <a:cs typeface="+mn-lt"/>
              </a:rPr>
              <a:t>Move resolution: </a:t>
            </a:r>
            <a:r>
              <a:rPr lang="en-US" sz="2300">
                <a:ea typeface="+mn-lt"/>
                <a:cs typeface="+mn-lt"/>
              </a:rPr>
              <a:t>allows for both coordinate input (e2e4) and standard algebraic notation (knight f3, e takes d5), this is checked for legality before any physical command is sent</a:t>
            </a:r>
            <a:endParaRPr lang="en-US" sz="2300"/>
          </a:p>
          <a:p>
            <a:r>
              <a:rPr lang="en-US" sz="2300" b="1">
                <a:ea typeface="+mn-lt"/>
                <a:cs typeface="+mn-lt"/>
              </a:rPr>
              <a:t>Physical board synchronization: </a:t>
            </a:r>
            <a:r>
              <a:rPr lang="en-US" sz="2300">
                <a:ea typeface="+mn-lt"/>
                <a:cs typeface="+mn-lt"/>
              </a:rPr>
              <a:t> a binary UART protocol sends 2-byte packets to the Arduino, with ACK confirmation per packet ensuring the digital and physical board states stay in sync</a:t>
            </a:r>
            <a:endParaRPr lang="en-US" sz="2300"/>
          </a:p>
          <a:p>
            <a:r>
              <a:rPr lang="en-US" sz="2300" b="1">
                <a:ea typeface="+mn-lt"/>
                <a:cs typeface="+mn-lt"/>
              </a:rPr>
              <a:t>Automated reset: </a:t>
            </a:r>
            <a:r>
              <a:rPr lang="en-US" sz="2300">
                <a:ea typeface="+mn-lt"/>
                <a:cs typeface="+mn-lt"/>
              </a:rPr>
              <a:t>a greedy Manhattan distance algorithm calculates the minimum movement to return all pieces to starting positions after each game, accounting for captured pieces in the capture area of each color</a:t>
            </a:r>
            <a:endParaRPr lang="en-US" sz="2300"/>
          </a:p>
          <a:p>
            <a:r>
              <a:rPr lang="en-US" sz="2300" b="1">
                <a:ea typeface="+mn-lt"/>
                <a:cs typeface="+mn-lt"/>
              </a:rPr>
              <a:t>Arduino firmware:</a:t>
            </a:r>
            <a:r>
              <a:rPr lang="en-US" sz="2300">
                <a:ea typeface="+mn-lt"/>
                <a:cs typeface="+mn-lt"/>
              </a:rPr>
              <a:t> decodes incoming binary packets, drives the </a:t>
            </a:r>
            <a:r>
              <a:rPr lang="en-US" sz="2300" err="1">
                <a:ea typeface="+mn-lt"/>
                <a:cs typeface="+mn-lt"/>
              </a:rPr>
              <a:t>coreXY</a:t>
            </a:r>
            <a:r>
              <a:rPr lang="en-US" sz="2300">
                <a:ea typeface="+mn-lt"/>
                <a:cs typeface="+mn-lt"/>
              </a:rPr>
              <a:t> stepper motors and electromagnet to physically execute each move, and returns ACK or NACK to confirm success</a:t>
            </a:r>
            <a:endParaRPr lang="en-US" sz="2300"/>
          </a:p>
          <a:p>
            <a:endParaRPr lang="en-US" sz="800">
              <a:ea typeface="+mn-lt"/>
              <a:cs typeface="+mn-lt"/>
            </a:endParaRPr>
          </a:p>
          <a:p>
            <a:pPr marL="0" indent="0" algn="ctr">
              <a:buNone/>
            </a:pPr>
            <a:r>
              <a:rPr lang="en-US" sz="1000">
                <a:ea typeface="+mn-lt"/>
                <a:cs typeface="+mn-lt"/>
              </a:rPr>
              <a:t>python-chess development team. (2024). python-chess: A chess library for Python (Version 1.10.0) [Software]. GitHub. </a:t>
            </a:r>
            <a:r>
              <a:rPr lang="en-US" sz="1000">
                <a:ea typeface="+mn-lt"/>
                <a:cs typeface="+mn-lt"/>
                <a:hlinkClick r:id="rId2"/>
              </a:rPr>
              <a:t>https://github.com/niklasf/python-chess</a:t>
            </a:r>
            <a:endParaRPr lang="en-US" sz="1000"/>
          </a:p>
          <a:p>
            <a:pPr marL="0" indent="0" algn="ctr">
              <a:buNone/>
            </a:pPr>
            <a:r>
              <a:rPr lang="en-US" sz="1000">
                <a:ea typeface="+mn-lt"/>
                <a:cs typeface="+mn-lt"/>
              </a:rPr>
              <a:t>Alpha Cephei. (2024). </a:t>
            </a:r>
            <a:r>
              <a:rPr lang="en-US" sz="1000" err="1">
                <a:ea typeface="+mn-lt"/>
                <a:cs typeface="+mn-lt"/>
              </a:rPr>
              <a:t>Vosk</a:t>
            </a:r>
            <a:r>
              <a:rPr lang="en-US" sz="1000">
                <a:ea typeface="+mn-lt"/>
                <a:cs typeface="+mn-lt"/>
              </a:rPr>
              <a:t> Offline Speech Recognition API (Version 0.3.45) [Software]. </a:t>
            </a:r>
            <a:r>
              <a:rPr lang="en-US" sz="1000">
                <a:ea typeface="+mn-lt"/>
                <a:cs typeface="+mn-lt"/>
                <a:hlinkClick r:id="rId3"/>
              </a:rPr>
              <a:t>https://alphacephei.com/vosk/</a:t>
            </a:r>
            <a:endParaRPr lang="en-US" sz="1000"/>
          </a:p>
          <a:p>
            <a:pPr marL="0" indent="0" algn="ctr">
              <a:buNone/>
            </a:pPr>
            <a:r>
              <a:rPr lang="en-US" sz="1000">
                <a:ea typeface="+mn-lt"/>
                <a:cs typeface="+mn-lt"/>
              </a:rPr>
              <a:t>Romstad, M., </a:t>
            </a:r>
            <a:r>
              <a:rPr lang="en-US" sz="1000" err="1">
                <a:ea typeface="+mn-lt"/>
                <a:cs typeface="+mn-lt"/>
              </a:rPr>
              <a:t>Costalba</a:t>
            </a:r>
            <a:r>
              <a:rPr lang="en-US" sz="1000">
                <a:ea typeface="+mn-lt"/>
                <a:cs typeface="+mn-lt"/>
              </a:rPr>
              <a:t>, M., Kiiski, J., &amp; contributors. (2024). Stockfish: Open source chess engine (Version 16) [Software]. </a:t>
            </a:r>
            <a:r>
              <a:rPr lang="en-US" sz="1000">
                <a:ea typeface="+mn-lt"/>
                <a:cs typeface="+mn-lt"/>
                <a:hlinkClick r:id="rId4"/>
              </a:rPr>
              <a:t>https://stockfishchess.org</a:t>
            </a:r>
            <a:endParaRPr lang="en-US" sz="1000"/>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2F2FC3A2-A73E-3097-79E0-F68E152657D3}"/>
              </a:ext>
            </a:extLst>
          </p:cNvPr>
          <p:cNvSpPr>
            <a:spLocks noGrp="1"/>
          </p:cNvSpPr>
          <p:nvPr>
            <p:ph type="sldNum" sz="quarter" idx="12"/>
          </p:nvPr>
        </p:nvSpPr>
        <p:spPr/>
        <p:txBody>
          <a:bodyPr/>
          <a:lstStyle/>
          <a:p>
            <a:fld id="{4072BC8D-D296-40C7-BB87-C3ACFF7B6C6E}" type="slidenum">
              <a:rPr lang="en-US" smtClean="0"/>
              <a:pPr/>
              <a:t>26</a:t>
            </a:fld>
            <a:endParaRPr lang="en-US"/>
          </a:p>
        </p:txBody>
      </p:sp>
    </p:spTree>
    <p:extLst>
      <p:ext uri="{BB962C8B-B14F-4D97-AF65-F5344CB8AC3E}">
        <p14:creationId xmlns:p14="http://schemas.microsoft.com/office/powerpoint/2010/main" val="3437333228"/>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4F9D6-8915-ECD4-005E-B9DCCC25F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BFE07-11CA-A48C-F8D9-E7F31A2537B9}"/>
              </a:ext>
            </a:extLst>
          </p:cNvPr>
          <p:cNvSpPr>
            <a:spLocks noGrp="1"/>
          </p:cNvSpPr>
          <p:nvPr>
            <p:ph type="title"/>
          </p:nvPr>
        </p:nvSpPr>
        <p:spPr/>
        <p:txBody>
          <a:bodyPr/>
          <a:lstStyle/>
          <a:p>
            <a:r>
              <a:rPr lang="en-US" err="1"/>
              <a:t>ExperimentatioN</a:t>
            </a:r>
            <a:endParaRPr lang="en-US"/>
          </a:p>
        </p:txBody>
      </p:sp>
      <p:sp>
        <p:nvSpPr>
          <p:cNvPr id="3" name="Content Placeholder 2">
            <a:extLst>
              <a:ext uri="{FF2B5EF4-FFF2-40B4-BE49-F238E27FC236}">
                <a16:creationId xmlns:a16="http://schemas.microsoft.com/office/drawing/2014/main" id="{6A6D99F3-42C2-0AAB-C652-4486CF00A09F}"/>
              </a:ext>
            </a:extLst>
          </p:cNvPr>
          <p:cNvSpPr>
            <a:spLocks noGrp="1"/>
          </p:cNvSpPr>
          <p:nvPr>
            <p:ph idx="1"/>
          </p:nvPr>
        </p:nvSpPr>
        <p:spPr>
          <a:xfrm>
            <a:off x="334296" y="1524001"/>
            <a:ext cx="11857704" cy="5333999"/>
          </a:xfrm>
        </p:spPr>
        <p:txBody>
          <a:bodyPr vert="horz" lIns="91440" tIns="45720" rIns="91440" bIns="45720" rtlCol="0" anchor="t">
            <a:normAutofit fontScale="85000" lnSpcReduction="10000"/>
          </a:bodyPr>
          <a:lstStyle/>
          <a:p>
            <a:pPr marL="0" indent="0">
              <a:buNone/>
            </a:pPr>
            <a:r>
              <a:rPr lang="en-US" b="1"/>
              <a:t>Passed (16/19):</a:t>
            </a:r>
          </a:p>
          <a:p>
            <a:r>
              <a:rPr lang="en-US">
                <a:effectLst/>
              </a:rPr>
              <a:t>Electrical/control tests all pass (fast EM switching, low latency, safe flyback, accurate recognition &amp; validation)</a:t>
            </a:r>
            <a:endParaRPr lang="en-US"/>
          </a:p>
          <a:p>
            <a:r>
              <a:rPr lang="en-US">
                <a:effectLst/>
              </a:rPr>
              <a:t>Safety: 23/24 checklist items (zero Critical failures)</a:t>
            </a:r>
            <a:endParaRPr lang="en-US"/>
          </a:p>
          <a:p>
            <a:r>
              <a:rPr lang="en-US">
                <a:effectLst/>
              </a:rPr>
              <a:t>Power: UPS switchover, recovery, runtime ≥ 2h, low‑noise 5V rail, power use within 10% of budget</a:t>
            </a:r>
            <a:endParaRPr lang="en-US"/>
          </a:p>
          <a:p>
            <a:r>
              <a:rPr lang="en-US">
                <a:effectLst/>
              </a:rPr>
              <a:t>Portability: all 5 operators carried 36ft (without damage)</a:t>
            </a:r>
            <a:endParaRPr lang="en-US"/>
          </a:p>
          <a:p>
            <a:pPr marL="0" indent="0">
              <a:buNone/>
            </a:pPr>
            <a:r>
              <a:rPr lang="en-US" b="1"/>
              <a:t>Failed (3/19):</a:t>
            </a:r>
          </a:p>
          <a:p>
            <a:r>
              <a:rPr lang="en-US" b="1">
                <a:effectLst/>
              </a:rPr>
              <a:t>Move completion time:</a:t>
            </a:r>
            <a:r>
              <a:rPr lang="en-US">
                <a:effectLst/>
              </a:rPr>
              <a:t> initial constraint too strict (real avg 12.8s, vs 5s target)</a:t>
            </a:r>
            <a:endParaRPr lang="en-US"/>
          </a:p>
          <a:p>
            <a:r>
              <a:rPr lang="en-US" b="1">
                <a:effectLst/>
              </a:rPr>
              <a:t>Thermal safety:</a:t>
            </a:r>
            <a:r>
              <a:rPr lang="en-US">
                <a:effectLst/>
              </a:rPr>
              <a:t> Pi5 slightly exceeded surface‑temp limit (107°F vs 104°F); not accessible to user, so no real hazard</a:t>
            </a:r>
            <a:endParaRPr lang="en-US"/>
          </a:p>
          <a:p>
            <a:r>
              <a:rPr lang="en-US" b="1">
                <a:effectLst/>
              </a:rPr>
              <a:t>Board weight:</a:t>
            </a:r>
            <a:r>
              <a:rPr lang="en-US">
                <a:effectLst/>
              </a:rPr>
              <a:t> 33.2lb (spec 30lb), though still practically portable</a:t>
            </a:r>
            <a:endParaRPr lang="en-US"/>
          </a:p>
          <a:p>
            <a:pPr marL="0" indent="0">
              <a:buNone/>
            </a:pPr>
            <a:r>
              <a:rPr lang="en-US" b="1"/>
              <a:t>Untestable </a:t>
            </a:r>
            <a:r>
              <a:rPr lang="en-US" i="1">
                <a:effectLst/>
              </a:rPr>
              <a:t>(mechanical and magnetic issues prevented evaluation)</a:t>
            </a:r>
            <a:r>
              <a:rPr lang="en-US" b="1"/>
              <a:t>:</a:t>
            </a:r>
          </a:p>
          <a:p>
            <a:r>
              <a:rPr lang="en-US">
                <a:effectLst/>
              </a:rPr>
              <a:t>Collision‑free movement rate</a:t>
            </a:r>
            <a:endParaRPr lang="en-US"/>
          </a:p>
          <a:p>
            <a:r>
              <a:rPr lang="en-US">
                <a:effectLst/>
              </a:rPr>
              <a:t>Positional accuracy</a:t>
            </a:r>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D960C24B-E8CD-406E-8A2E-0693503FE477}"/>
              </a:ext>
            </a:extLst>
          </p:cNvPr>
          <p:cNvSpPr>
            <a:spLocks noGrp="1"/>
          </p:cNvSpPr>
          <p:nvPr>
            <p:ph type="sldNum" sz="quarter" idx="12"/>
          </p:nvPr>
        </p:nvSpPr>
        <p:spPr/>
        <p:txBody>
          <a:bodyPr/>
          <a:lstStyle/>
          <a:p>
            <a:fld id="{4072BC8D-D296-40C7-BB87-C3ACFF7B6C6E}" type="slidenum">
              <a:rPr lang="en-US" smtClean="0"/>
              <a:pPr/>
              <a:t>27</a:t>
            </a:fld>
            <a:endParaRPr lang="en-US"/>
          </a:p>
        </p:txBody>
      </p:sp>
    </p:spTree>
    <p:extLst>
      <p:ext uri="{BB962C8B-B14F-4D97-AF65-F5344CB8AC3E}">
        <p14:creationId xmlns:p14="http://schemas.microsoft.com/office/powerpoint/2010/main" val="1089749103"/>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D9D1F4D2-CFDF-9675-84C3-C0FB03015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D6C4D-79A1-1F5D-A4E7-8F50750EA3C0}"/>
              </a:ext>
            </a:extLst>
          </p:cNvPr>
          <p:cNvSpPr>
            <a:spLocks noGrp="1"/>
          </p:cNvSpPr>
          <p:nvPr>
            <p:ph type="title"/>
          </p:nvPr>
        </p:nvSpPr>
        <p:spPr>
          <a:xfrm>
            <a:off x="385011" y="3532472"/>
            <a:ext cx="3674069" cy="2776889"/>
          </a:xfrm>
        </p:spPr>
        <p:txBody>
          <a:bodyPr>
            <a:normAutofit/>
          </a:bodyPr>
          <a:lstStyle/>
          <a:p>
            <a:pPr algn="r"/>
            <a:r>
              <a:rPr lang="en-US" sz="1800"/>
              <a:t>Budget overview </a:t>
            </a:r>
          </a:p>
        </p:txBody>
      </p:sp>
      <p:pic>
        <p:nvPicPr>
          <p:cNvPr id="17" name="Picture 16">
            <a:extLst>
              <a:ext uri="{FF2B5EF4-FFF2-40B4-BE49-F238E27FC236}">
                <a16:creationId xmlns:a16="http://schemas.microsoft.com/office/drawing/2014/main" id="{D2FA0809-F4AC-CDA0-A785-23E3ED1C7BAD}"/>
              </a:ext>
            </a:extLst>
          </p:cNvPr>
          <p:cNvPicPr>
            <a:picLocks noChangeAspect="1"/>
          </p:cNvPicPr>
          <p:nvPr/>
        </p:nvPicPr>
        <p:blipFill>
          <a:blip r:embed="rId3"/>
          <a:stretch>
            <a:fillRect/>
          </a:stretch>
        </p:blipFill>
        <p:spPr>
          <a:xfrm>
            <a:off x="517840" y="791107"/>
            <a:ext cx="8283450" cy="2340614"/>
          </a:xfrm>
          <a:prstGeom prst="rect">
            <a:avLst/>
          </a:prstGeom>
        </p:spPr>
      </p:pic>
      <p:sp>
        <p:nvSpPr>
          <p:cNvPr id="3" name="Content Placeholder 2">
            <a:extLst>
              <a:ext uri="{FF2B5EF4-FFF2-40B4-BE49-F238E27FC236}">
                <a16:creationId xmlns:a16="http://schemas.microsoft.com/office/drawing/2014/main" id="{45B89BEB-EA8C-8845-9B64-2074E2A2B9CB}"/>
              </a:ext>
            </a:extLst>
          </p:cNvPr>
          <p:cNvSpPr>
            <a:spLocks noGrp="1"/>
          </p:cNvSpPr>
          <p:nvPr>
            <p:ph idx="1"/>
          </p:nvPr>
        </p:nvSpPr>
        <p:spPr>
          <a:xfrm>
            <a:off x="4380814" y="3532469"/>
            <a:ext cx="6886744" cy="2776889"/>
          </a:xfrm>
        </p:spPr>
        <p:txBody>
          <a:bodyPr vert="horz" lIns="91440" tIns="45720" rIns="91440" bIns="45720" rtlCol="0" anchor="ctr">
            <a:noAutofit/>
          </a:bodyPr>
          <a:lstStyle/>
          <a:p>
            <a:r>
              <a:rPr lang="en-US"/>
              <a:t>Underestimated costs in conceptual design (CD)</a:t>
            </a:r>
          </a:p>
          <a:p>
            <a:r>
              <a:rPr lang="en-US"/>
              <a:t>Differences between detailed design (DD) and actual cost:</a:t>
            </a:r>
          </a:p>
          <a:p>
            <a:pPr lvl="1"/>
            <a:r>
              <a:rPr lang="en-US" sz="2000"/>
              <a:t>Price changes over time</a:t>
            </a:r>
          </a:p>
          <a:p>
            <a:pPr lvl="1"/>
            <a:r>
              <a:rPr lang="en-US" sz="2000"/>
              <a:t>Extra/Replacement parts being ordered</a:t>
            </a:r>
            <a:endParaRPr lang="en-US"/>
          </a:p>
        </p:txBody>
      </p:sp>
      <p:sp>
        <p:nvSpPr>
          <p:cNvPr id="4" name="Slide Number Placeholder 3">
            <a:extLst>
              <a:ext uri="{FF2B5EF4-FFF2-40B4-BE49-F238E27FC236}">
                <a16:creationId xmlns:a16="http://schemas.microsoft.com/office/drawing/2014/main" id="{6A3EDF86-10BA-631A-D1EA-C08FCE1BF0B6}"/>
              </a:ext>
            </a:extLst>
          </p:cNvPr>
          <p:cNvSpPr>
            <a:spLocks noGrp="1"/>
          </p:cNvSpPr>
          <p:nvPr>
            <p:ph type="sldNum" sz="quarter" idx="12"/>
          </p:nvPr>
        </p:nvSpPr>
        <p:spPr>
          <a:xfrm>
            <a:off x="10514011" y="6309360"/>
            <a:ext cx="753545" cy="365125"/>
          </a:xfrm>
        </p:spPr>
        <p:txBody>
          <a:bodyPr>
            <a:normAutofit/>
          </a:bodyPr>
          <a:lstStyle/>
          <a:p>
            <a:pPr>
              <a:spcAft>
                <a:spcPts val="600"/>
              </a:spcAft>
            </a:pPr>
            <a:fld id="{4072BC8D-D296-40C7-BB87-C3ACFF7B6C6E}" type="slidenum">
              <a:rPr lang="en-US" smtClean="0"/>
              <a:pPr>
                <a:spcAft>
                  <a:spcPts val="600"/>
                </a:spcAft>
              </a:pPr>
              <a:t>28</a:t>
            </a:fld>
            <a:endParaRPr lang="en-US"/>
          </a:p>
        </p:txBody>
      </p:sp>
      <p:sp>
        <p:nvSpPr>
          <p:cNvPr id="18" name="TextBox 17">
            <a:extLst>
              <a:ext uri="{FF2B5EF4-FFF2-40B4-BE49-F238E27FC236}">
                <a16:creationId xmlns:a16="http://schemas.microsoft.com/office/drawing/2014/main" id="{6C60B048-56FF-498F-0696-E0E6895D083E}"/>
              </a:ext>
            </a:extLst>
          </p:cNvPr>
          <p:cNvSpPr txBox="1"/>
          <p:nvPr/>
        </p:nvSpPr>
        <p:spPr>
          <a:xfrm>
            <a:off x="8321838" y="791107"/>
            <a:ext cx="3503315" cy="707886"/>
          </a:xfrm>
          <a:prstGeom prst="rect">
            <a:avLst/>
          </a:prstGeom>
          <a:noFill/>
        </p:spPr>
        <p:txBody>
          <a:bodyPr wrap="square" lIns="91440" tIns="45720" rIns="91440" bIns="45720" rtlCol="0" anchor="t">
            <a:spAutoFit/>
          </a:bodyPr>
          <a:lstStyle/>
          <a:p>
            <a:pPr algn="ctr"/>
            <a:r>
              <a:rPr lang="en-US" sz="2000"/>
              <a:t>Scan for full Bill of Materials:</a:t>
            </a:r>
          </a:p>
        </p:txBody>
      </p:sp>
      <p:pic>
        <p:nvPicPr>
          <p:cNvPr id="19" name="Picture 18">
            <a:extLst>
              <a:ext uri="{FF2B5EF4-FFF2-40B4-BE49-F238E27FC236}">
                <a16:creationId xmlns:a16="http://schemas.microsoft.com/office/drawing/2014/main" id="{5B68654E-9B2E-2AF9-F27E-33EAE3910C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3881" y="1669144"/>
            <a:ext cx="1339231" cy="1339231"/>
          </a:xfrm>
          <a:prstGeom prst="rect">
            <a:avLst/>
          </a:prstGeom>
        </p:spPr>
      </p:pic>
    </p:spTree>
    <p:extLst>
      <p:ext uri="{BB962C8B-B14F-4D97-AF65-F5344CB8AC3E}">
        <p14:creationId xmlns:p14="http://schemas.microsoft.com/office/powerpoint/2010/main" val="359368773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B17D-E06A-29F9-BFA0-7E8155D17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6CED3-1C5F-D912-6740-8EA1704562F2}"/>
              </a:ext>
            </a:extLst>
          </p:cNvPr>
          <p:cNvSpPr>
            <a:spLocks noGrp="1"/>
          </p:cNvSpPr>
          <p:nvPr>
            <p:ph type="title"/>
          </p:nvPr>
        </p:nvSpPr>
        <p:spPr>
          <a:xfrm>
            <a:off x="913795" y="147791"/>
            <a:ext cx="10353761" cy="1326321"/>
          </a:xfrm>
        </p:spPr>
        <p:txBody>
          <a:bodyPr/>
          <a:lstStyle/>
          <a:p>
            <a:r>
              <a:rPr lang="en-US"/>
              <a:t>Outline</a:t>
            </a:r>
          </a:p>
        </p:txBody>
      </p:sp>
      <p:sp>
        <p:nvSpPr>
          <p:cNvPr id="3" name="Content Placeholder 2">
            <a:extLst>
              <a:ext uri="{FF2B5EF4-FFF2-40B4-BE49-F238E27FC236}">
                <a16:creationId xmlns:a16="http://schemas.microsoft.com/office/drawing/2014/main" id="{EF1F9ADA-F2AF-AA33-09FE-8CFD42F86EAF}"/>
              </a:ext>
            </a:extLst>
          </p:cNvPr>
          <p:cNvSpPr>
            <a:spLocks noGrp="1"/>
          </p:cNvSpPr>
          <p:nvPr>
            <p:ph idx="1"/>
          </p:nvPr>
        </p:nvSpPr>
        <p:spPr>
          <a:xfrm>
            <a:off x="913795" y="1016000"/>
            <a:ext cx="10353762" cy="4294909"/>
          </a:xfrm>
        </p:spPr>
        <p:txBody>
          <a:bodyPr>
            <a:noAutofit/>
          </a:bodyPr>
          <a:lstStyle/>
          <a:p>
            <a:r>
              <a:rPr lang="en-US" sz="3600">
                <a:solidFill>
                  <a:schemeClr val="tx1">
                    <a:lumMod val="85000"/>
                  </a:schemeClr>
                </a:solidFill>
              </a:rPr>
              <a:t>Problem Formulation</a:t>
            </a:r>
          </a:p>
          <a:p>
            <a:r>
              <a:rPr lang="en-US" sz="3600">
                <a:solidFill>
                  <a:schemeClr val="tx1">
                    <a:lumMod val="85000"/>
                  </a:schemeClr>
                </a:solidFill>
              </a:rPr>
              <a:t>Standards, Ethics, and Broader Impacts</a:t>
            </a:r>
          </a:p>
          <a:p>
            <a:r>
              <a:rPr lang="en-US" sz="3600">
                <a:solidFill>
                  <a:schemeClr val="tx1">
                    <a:lumMod val="85000"/>
                  </a:schemeClr>
                </a:solidFill>
              </a:rPr>
              <a:t>Overview of Conceptual Design</a:t>
            </a:r>
          </a:p>
          <a:p>
            <a:r>
              <a:rPr lang="en-US" sz="3600">
                <a:solidFill>
                  <a:schemeClr val="tx1">
                    <a:lumMod val="85000"/>
                  </a:schemeClr>
                </a:solidFill>
              </a:rPr>
              <a:t>Detailed Design</a:t>
            </a:r>
          </a:p>
          <a:p>
            <a:r>
              <a:rPr lang="en-US" sz="3600">
                <a:solidFill>
                  <a:schemeClr val="tx1">
                    <a:lumMod val="85000"/>
                  </a:schemeClr>
                </a:solidFill>
              </a:rPr>
              <a:t>Implementation and Experimentation</a:t>
            </a:r>
          </a:p>
          <a:p>
            <a:r>
              <a:rPr lang="en-US" sz="3600" b="1"/>
              <a:t>Demonstration</a:t>
            </a:r>
          </a:p>
          <a:p>
            <a:r>
              <a:rPr lang="en-US" sz="3600">
                <a:solidFill>
                  <a:schemeClr val="tx1">
                    <a:lumMod val="85000"/>
                  </a:schemeClr>
                </a:solidFill>
              </a:rPr>
              <a:t>Lessons Learned</a:t>
            </a:r>
          </a:p>
        </p:txBody>
      </p:sp>
      <p:sp>
        <p:nvSpPr>
          <p:cNvPr id="4" name="Slide Number Placeholder 3">
            <a:extLst>
              <a:ext uri="{FF2B5EF4-FFF2-40B4-BE49-F238E27FC236}">
                <a16:creationId xmlns:a16="http://schemas.microsoft.com/office/drawing/2014/main" id="{B1C96CD6-1C56-30FC-7229-28AEC6F1E9DD}"/>
              </a:ext>
            </a:extLst>
          </p:cNvPr>
          <p:cNvSpPr>
            <a:spLocks noGrp="1"/>
          </p:cNvSpPr>
          <p:nvPr>
            <p:ph type="sldNum" sz="quarter" idx="12"/>
          </p:nvPr>
        </p:nvSpPr>
        <p:spPr/>
        <p:txBody>
          <a:bodyPr/>
          <a:lstStyle/>
          <a:p>
            <a:fld id="{4072BC8D-D296-40C7-BB87-C3ACFF7B6C6E}" type="slidenum">
              <a:rPr lang="en-US" smtClean="0"/>
              <a:pPr/>
              <a:t>29</a:t>
            </a:fld>
            <a:endParaRPr lang="en-US"/>
          </a:p>
        </p:txBody>
      </p:sp>
    </p:spTree>
    <p:extLst>
      <p:ext uri="{BB962C8B-B14F-4D97-AF65-F5344CB8AC3E}">
        <p14:creationId xmlns:p14="http://schemas.microsoft.com/office/powerpoint/2010/main" val="414563677"/>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DC734-282D-B533-A7DF-3633082AB41B}"/>
              </a:ext>
            </a:extLst>
          </p:cNvPr>
          <p:cNvSpPr>
            <a:spLocks noGrp="1"/>
          </p:cNvSpPr>
          <p:nvPr>
            <p:ph type="title"/>
          </p:nvPr>
        </p:nvSpPr>
        <p:spPr>
          <a:xfrm>
            <a:off x="1229244" y="157316"/>
            <a:ext cx="9733512" cy="619279"/>
          </a:xfrm>
        </p:spPr>
        <p:txBody>
          <a:bodyPr/>
          <a:lstStyle/>
          <a:p>
            <a:r>
              <a:rPr lang="en-US" dirty="0"/>
              <a:t>Demonstration</a:t>
            </a:r>
          </a:p>
        </p:txBody>
      </p:sp>
      <p:sp>
        <p:nvSpPr>
          <p:cNvPr id="4" name="Slide Number Placeholder 3">
            <a:extLst>
              <a:ext uri="{FF2B5EF4-FFF2-40B4-BE49-F238E27FC236}">
                <a16:creationId xmlns:a16="http://schemas.microsoft.com/office/drawing/2014/main" id="{C8F3F4C1-FFEC-C29C-A234-CBABA420018A}"/>
              </a:ext>
            </a:extLst>
          </p:cNvPr>
          <p:cNvSpPr>
            <a:spLocks noGrp="1"/>
          </p:cNvSpPr>
          <p:nvPr>
            <p:ph type="sldNum" sz="quarter" idx="12"/>
          </p:nvPr>
        </p:nvSpPr>
        <p:spPr/>
        <p:txBody>
          <a:bodyPr/>
          <a:lstStyle/>
          <a:p>
            <a:fld id="{4072BC8D-D296-40C7-BB87-C3ACFF7B6C6E}" type="slidenum">
              <a:rPr lang="en-US" smtClean="0"/>
              <a:pPr/>
              <a:t>30</a:t>
            </a:fld>
            <a:endParaRPr lang="en-US"/>
          </a:p>
        </p:txBody>
      </p:sp>
      <p:pic>
        <p:nvPicPr>
          <p:cNvPr id="3" name="Online Media 2" title="Chess 2 Impress">
            <a:hlinkClick r:id="" action="ppaction://media"/>
            <a:extLst>
              <a:ext uri="{FF2B5EF4-FFF2-40B4-BE49-F238E27FC236}">
                <a16:creationId xmlns:a16="http://schemas.microsoft.com/office/drawing/2014/main" id="{1570F397-CB3F-2E56-995F-BCBAA6CF47F1}"/>
              </a:ext>
            </a:extLst>
          </p:cNvPr>
          <p:cNvPicPr>
            <a:picLocks noRot="1" noChangeAspect="1"/>
          </p:cNvPicPr>
          <p:nvPr>
            <a:videoFile r:link="rId1"/>
          </p:nvPr>
        </p:nvPicPr>
        <p:blipFill>
          <a:blip r:embed="rId3"/>
          <a:stretch>
            <a:fillRect/>
          </a:stretch>
        </p:blipFill>
        <p:spPr>
          <a:xfrm>
            <a:off x="1149032" y="886217"/>
            <a:ext cx="9893935" cy="5585703"/>
          </a:xfrm>
          <a:prstGeom prst="rect">
            <a:avLst/>
          </a:prstGeom>
        </p:spPr>
      </p:pic>
    </p:spTree>
    <p:extLst>
      <p:ext uri="{BB962C8B-B14F-4D97-AF65-F5344CB8AC3E}">
        <p14:creationId xmlns:p14="http://schemas.microsoft.com/office/powerpoint/2010/main" val="3543424302"/>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5810F-5C21-1164-3255-64E97564F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C696E-45E2-68F4-3701-652F218C4B6B}"/>
              </a:ext>
            </a:extLst>
          </p:cNvPr>
          <p:cNvSpPr>
            <a:spLocks noGrp="1"/>
          </p:cNvSpPr>
          <p:nvPr>
            <p:ph type="title"/>
          </p:nvPr>
        </p:nvSpPr>
        <p:spPr>
          <a:xfrm>
            <a:off x="913795" y="147791"/>
            <a:ext cx="10353761" cy="1326321"/>
          </a:xfrm>
        </p:spPr>
        <p:txBody>
          <a:bodyPr/>
          <a:lstStyle/>
          <a:p>
            <a:r>
              <a:rPr lang="en-US"/>
              <a:t>Outline</a:t>
            </a:r>
          </a:p>
        </p:txBody>
      </p:sp>
      <p:sp>
        <p:nvSpPr>
          <p:cNvPr id="3" name="Content Placeholder 2">
            <a:extLst>
              <a:ext uri="{FF2B5EF4-FFF2-40B4-BE49-F238E27FC236}">
                <a16:creationId xmlns:a16="http://schemas.microsoft.com/office/drawing/2014/main" id="{A9AC2FA3-D758-40C5-83F6-AD12AD6DC9FD}"/>
              </a:ext>
            </a:extLst>
          </p:cNvPr>
          <p:cNvSpPr>
            <a:spLocks noGrp="1"/>
          </p:cNvSpPr>
          <p:nvPr>
            <p:ph idx="1"/>
          </p:nvPr>
        </p:nvSpPr>
        <p:spPr>
          <a:xfrm>
            <a:off x="913795" y="1016000"/>
            <a:ext cx="10353762" cy="4294909"/>
          </a:xfrm>
        </p:spPr>
        <p:txBody>
          <a:bodyPr>
            <a:noAutofit/>
          </a:bodyPr>
          <a:lstStyle/>
          <a:p>
            <a:r>
              <a:rPr lang="en-US" sz="3600">
                <a:solidFill>
                  <a:schemeClr val="tx1">
                    <a:lumMod val="85000"/>
                  </a:schemeClr>
                </a:solidFill>
              </a:rPr>
              <a:t>Problem Formulation</a:t>
            </a:r>
          </a:p>
          <a:p>
            <a:r>
              <a:rPr lang="en-US" sz="3600">
                <a:solidFill>
                  <a:schemeClr val="tx1">
                    <a:lumMod val="85000"/>
                  </a:schemeClr>
                </a:solidFill>
              </a:rPr>
              <a:t>Standards, Ethics, and Broader Impacts</a:t>
            </a:r>
          </a:p>
          <a:p>
            <a:r>
              <a:rPr lang="en-US" sz="3600">
                <a:solidFill>
                  <a:schemeClr val="tx1">
                    <a:lumMod val="85000"/>
                  </a:schemeClr>
                </a:solidFill>
              </a:rPr>
              <a:t>Overview of Conceptual Design</a:t>
            </a:r>
          </a:p>
          <a:p>
            <a:r>
              <a:rPr lang="en-US" sz="3600">
                <a:solidFill>
                  <a:schemeClr val="tx1">
                    <a:lumMod val="85000"/>
                  </a:schemeClr>
                </a:solidFill>
              </a:rPr>
              <a:t>Detailed Design</a:t>
            </a:r>
          </a:p>
          <a:p>
            <a:r>
              <a:rPr lang="en-US" sz="3600">
                <a:solidFill>
                  <a:schemeClr val="tx1">
                    <a:lumMod val="85000"/>
                  </a:schemeClr>
                </a:solidFill>
              </a:rPr>
              <a:t>Implementation and Experimentation</a:t>
            </a:r>
          </a:p>
          <a:p>
            <a:r>
              <a:rPr lang="en-US" sz="3600">
                <a:solidFill>
                  <a:schemeClr val="tx1">
                    <a:lumMod val="85000"/>
                  </a:schemeClr>
                </a:solidFill>
              </a:rPr>
              <a:t>Demonstration</a:t>
            </a:r>
          </a:p>
          <a:p>
            <a:r>
              <a:rPr lang="en-US" sz="3600" b="1"/>
              <a:t>Lessons Learned</a:t>
            </a:r>
          </a:p>
        </p:txBody>
      </p:sp>
      <p:sp>
        <p:nvSpPr>
          <p:cNvPr id="4" name="Slide Number Placeholder 3">
            <a:extLst>
              <a:ext uri="{FF2B5EF4-FFF2-40B4-BE49-F238E27FC236}">
                <a16:creationId xmlns:a16="http://schemas.microsoft.com/office/drawing/2014/main" id="{D2E22034-9CE3-1EF2-B095-51F9520B2359}"/>
              </a:ext>
            </a:extLst>
          </p:cNvPr>
          <p:cNvSpPr>
            <a:spLocks noGrp="1"/>
          </p:cNvSpPr>
          <p:nvPr>
            <p:ph type="sldNum" sz="quarter" idx="12"/>
          </p:nvPr>
        </p:nvSpPr>
        <p:spPr/>
        <p:txBody>
          <a:bodyPr/>
          <a:lstStyle/>
          <a:p>
            <a:fld id="{4072BC8D-D296-40C7-BB87-C3ACFF7B6C6E}" type="slidenum">
              <a:rPr lang="en-US" smtClean="0"/>
              <a:pPr/>
              <a:t>31</a:t>
            </a:fld>
            <a:endParaRPr lang="en-US"/>
          </a:p>
        </p:txBody>
      </p:sp>
    </p:spTree>
    <p:extLst>
      <p:ext uri="{BB962C8B-B14F-4D97-AF65-F5344CB8AC3E}">
        <p14:creationId xmlns:p14="http://schemas.microsoft.com/office/powerpoint/2010/main" val="1449595640"/>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A6480-1810-C2C1-5979-A2FE0A65B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F2FC1-5901-181E-091E-C8F4EB537C69}"/>
              </a:ext>
            </a:extLst>
          </p:cNvPr>
          <p:cNvSpPr>
            <a:spLocks noGrp="1"/>
          </p:cNvSpPr>
          <p:nvPr>
            <p:ph type="title"/>
          </p:nvPr>
        </p:nvSpPr>
        <p:spPr>
          <a:xfrm>
            <a:off x="913795" y="0"/>
            <a:ext cx="10353761" cy="1136073"/>
          </a:xfrm>
        </p:spPr>
        <p:txBody>
          <a:bodyPr/>
          <a:lstStyle/>
          <a:p>
            <a:r>
              <a:rPr lang="en-US"/>
              <a:t>Lessons learned / Future work</a:t>
            </a:r>
          </a:p>
        </p:txBody>
      </p:sp>
      <p:sp>
        <p:nvSpPr>
          <p:cNvPr id="3" name="Content Placeholder 2">
            <a:extLst>
              <a:ext uri="{FF2B5EF4-FFF2-40B4-BE49-F238E27FC236}">
                <a16:creationId xmlns:a16="http://schemas.microsoft.com/office/drawing/2014/main" id="{9DE402FC-5361-87C0-9249-A15315714580}"/>
              </a:ext>
            </a:extLst>
          </p:cNvPr>
          <p:cNvSpPr>
            <a:spLocks noGrp="1"/>
          </p:cNvSpPr>
          <p:nvPr>
            <p:ph idx="1"/>
          </p:nvPr>
        </p:nvSpPr>
        <p:spPr>
          <a:xfrm>
            <a:off x="913795" y="868218"/>
            <a:ext cx="10353762" cy="5989781"/>
          </a:xfrm>
        </p:spPr>
        <p:txBody>
          <a:bodyPr vert="horz" lIns="91440" tIns="45720" rIns="91440" bIns="45720" rtlCol="0" anchor="t">
            <a:normAutofit fontScale="85000" lnSpcReduction="20000"/>
          </a:bodyPr>
          <a:lstStyle/>
          <a:p>
            <a:pPr marL="0" indent="0">
              <a:lnSpc>
                <a:spcPct val="100000"/>
              </a:lnSpc>
              <a:buNone/>
            </a:pPr>
            <a:r>
              <a:rPr lang="en-US" b="1"/>
              <a:t>Lessons Learned:</a:t>
            </a:r>
          </a:p>
          <a:p>
            <a:pPr>
              <a:lnSpc>
                <a:spcPct val="100000"/>
              </a:lnSpc>
            </a:pPr>
            <a:r>
              <a:rPr lang="en-US"/>
              <a:t>Order and test parts as soon as possible; our first screen was faulty when it arrived and took needed GPIO voltage pins, early testing allowed for us to reorder before it became a bottleneck</a:t>
            </a:r>
          </a:p>
          <a:p>
            <a:pPr>
              <a:lnSpc>
                <a:spcPct val="100000"/>
              </a:lnSpc>
            </a:pPr>
            <a:r>
              <a:rPr lang="en-US">
                <a:ea typeface="+mn-lt"/>
                <a:cs typeface="+mn-lt"/>
              </a:rPr>
              <a:t>Flatness of the playing surface is a significant mechanical requirement.; the acrylic bow, the mid-span wooden support, and the uneven </a:t>
            </a:r>
            <a:r>
              <a:rPr lang="en-US" err="1">
                <a:ea typeface="+mn-lt"/>
                <a:cs typeface="+mn-lt"/>
              </a:rPr>
              <a:t>CoreXY</a:t>
            </a:r>
            <a:r>
              <a:rPr lang="en-US">
                <a:ea typeface="+mn-lt"/>
                <a:cs typeface="+mn-lt"/>
              </a:rPr>
              <a:t> frame supports each seemed like minor build issues (during assembly), but together they made two of our planned tests impossible to run</a:t>
            </a:r>
            <a:endParaRPr lang="en-US"/>
          </a:p>
          <a:p>
            <a:pPr>
              <a:lnSpc>
                <a:spcPct val="100000"/>
              </a:lnSpc>
            </a:pPr>
            <a:r>
              <a:rPr lang="en-US"/>
              <a:t>Throughout the Design process, take into account the AWG size of the wires in order to maintain Thermal and Current load concerns.</a:t>
            </a:r>
          </a:p>
          <a:p>
            <a:pPr>
              <a:lnSpc>
                <a:spcPct val="100000"/>
              </a:lnSpc>
            </a:pPr>
            <a:r>
              <a:rPr lang="en-US"/>
              <a:t>Having smaller scale prototypes/putting all cad drawings together to physically see design faults earlier is helpful.</a:t>
            </a:r>
          </a:p>
          <a:p>
            <a:pPr>
              <a:lnSpc>
                <a:spcPct val="100000"/>
              </a:lnSpc>
            </a:pPr>
            <a:r>
              <a:rPr lang="en-US"/>
              <a:t>Being generous with tolerances is important; it’s always better to not remove enough material than too much</a:t>
            </a:r>
            <a:endParaRPr lang="en-US" b="1"/>
          </a:p>
          <a:p>
            <a:pPr marL="0" indent="0">
              <a:lnSpc>
                <a:spcPct val="100000"/>
              </a:lnSpc>
              <a:buNone/>
            </a:pPr>
            <a:r>
              <a:rPr lang="en-US" b="1"/>
              <a:t>Future Work:</a:t>
            </a:r>
          </a:p>
          <a:p>
            <a:pPr>
              <a:lnSpc>
                <a:spcPct val="100000"/>
              </a:lnSpc>
            </a:pPr>
            <a:r>
              <a:rPr lang="en-US"/>
              <a:t>Improve playing‑surface flatness with a stiffer board or added supports to ensure consistent electromagnet pickup </a:t>
            </a:r>
          </a:p>
          <a:p>
            <a:pPr>
              <a:lnSpc>
                <a:spcPct val="100000"/>
              </a:lnSpc>
            </a:pPr>
            <a:r>
              <a:rPr lang="en-US"/>
              <a:t>Replace electromagnet with a stronger, higher voltage alternative to allow it to stay lower and not be held by magnets in piece bases</a:t>
            </a:r>
          </a:p>
          <a:p>
            <a:pPr>
              <a:lnSpc>
                <a:spcPct val="100000"/>
              </a:lnSpc>
            </a:pPr>
            <a:r>
              <a:rPr lang="en-US"/>
              <a:t>Increase motion speed by raising available motor voltage, optimizing </a:t>
            </a:r>
            <a:r>
              <a:rPr lang="en-US" err="1"/>
              <a:t>microstepping</a:t>
            </a:r>
            <a:r>
              <a:rPr lang="en-US"/>
              <a:t> settings, and reducing frictional losses in the </a:t>
            </a:r>
            <a:r>
              <a:rPr lang="en-US" err="1"/>
              <a:t>CoreXY</a:t>
            </a:r>
            <a:r>
              <a:rPr lang="en-US"/>
              <a:t> path</a:t>
            </a:r>
          </a:p>
          <a:p>
            <a:pPr>
              <a:lnSpc>
                <a:spcPct val="100000"/>
              </a:lnSpc>
            </a:pPr>
            <a:r>
              <a:rPr lang="en-US"/>
              <a:t>Add difficulty levels for the AI, and the possibility to redo moves</a:t>
            </a:r>
          </a:p>
          <a:p>
            <a:endParaRPr lang="en-US"/>
          </a:p>
          <a:p>
            <a:endParaRPr lang="en-US"/>
          </a:p>
          <a:p>
            <a:endParaRPr lang="en-US"/>
          </a:p>
        </p:txBody>
      </p:sp>
      <p:sp>
        <p:nvSpPr>
          <p:cNvPr id="4" name="Slide Number Placeholder 3">
            <a:extLst>
              <a:ext uri="{FF2B5EF4-FFF2-40B4-BE49-F238E27FC236}">
                <a16:creationId xmlns:a16="http://schemas.microsoft.com/office/drawing/2014/main" id="{D114E60D-BE41-0A89-B0DD-D42C42D0C16E}"/>
              </a:ext>
            </a:extLst>
          </p:cNvPr>
          <p:cNvSpPr>
            <a:spLocks noGrp="1"/>
          </p:cNvSpPr>
          <p:nvPr>
            <p:ph type="sldNum" sz="quarter" idx="12"/>
          </p:nvPr>
        </p:nvSpPr>
        <p:spPr/>
        <p:txBody>
          <a:bodyPr/>
          <a:lstStyle/>
          <a:p>
            <a:fld id="{4072BC8D-D296-40C7-BB87-C3ACFF7B6C6E}" type="slidenum">
              <a:rPr lang="en-US" smtClean="0"/>
              <a:pPr/>
              <a:t>32</a:t>
            </a:fld>
            <a:endParaRPr lang="en-US"/>
          </a:p>
        </p:txBody>
      </p:sp>
    </p:spTree>
    <p:extLst>
      <p:ext uri="{BB962C8B-B14F-4D97-AF65-F5344CB8AC3E}">
        <p14:creationId xmlns:p14="http://schemas.microsoft.com/office/powerpoint/2010/main" val="370760168"/>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6" name="Picture 5" descr="A game of chess with letters and numbers&#10;&#10;AI-generated content may be incorrect.">
            <a:extLst>
              <a:ext uri="{FF2B5EF4-FFF2-40B4-BE49-F238E27FC236}">
                <a16:creationId xmlns:a16="http://schemas.microsoft.com/office/drawing/2014/main" id="{0A5459EC-29F1-D7FF-F3B7-EC2C7F3BB282}"/>
              </a:ext>
            </a:extLst>
          </p:cNvPr>
          <p:cNvPicPr>
            <a:picLocks noChangeAspect="1"/>
          </p:cNvPicPr>
          <p:nvPr/>
        </p:nvPicPr>
        <p:blipFill>
          <a:blip r:embed="rId3">
            <a:alphaModFix amt="35000"/>
            <a:extLst>
              <a:ext uri="{28A0092B-C50C-407E-A947-70E740481C1C}">
                <a14:useLocalDpi xmlns:a14="http://schemas.microsoft.com/office/drawing/2010/main" val="0"/>
              </a:ext>
            </a:extLst>
          </a:blip>
          <a:srcRect t="2803" b="22219"/>
          <a:stretch>
            <a:fillRect/>
          </a:stretch>
        </p:blipFill>
        <p:spPr>
          <a:xfrm>
            <a:off x="20" y="2030"/>
            <a:ext cx="12191980" cy="6855970"/>
          </a:xfrm>
          <a:prstGeom prst="rect">
            <a:avLst/>
          </a:prstGeom>
        </p:spPr>
      </p:pic>
      <p:sp>
        <p:nvSpPr>
          <p:cNvPr id="2060" name="Rectangle 2059">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0DE5830D-E05A-4693-B6F6-AC960FFB21B7}"/>
              </a:ext>
            </a:extLst>
          </p:cNvPr>
          <p:cNvSpPr>
            <a:spLocks noGrp="1"/>
          </p:cNvSpPr>
          <p:nvPr>
            <p:ph type="title"/>
          </p:nvPr>
        </p:nvSpPr>
        <p:spPr>
          <a:xfrm>
            <a:off x="913795" y="609600"/>
            <a:ext cx="10353761" cy="1326321"/>
          </a:xfrm>
        </p:spPr>
        <p:txBody>
          <a:bodyPr>
            <a:normAutofit/>
          </a:bodyPr>
          <a:lstStyle/>
          <a:p>
            <a:r>
              <a:rPr lang="en-US"/>
              <a:t>Statement of Contributions</a:t>
            </a:r>
          </a:p>
        </p:txBody>
      </p:sp>
      <p:sp>
        <p:nvSpPr>
          <p:cNvPr id="3" name="Content Placeholder 2">
            <a:extLst>
              <a:ext uri="{FF2B5EF4-FFF2-40B4-BE49-F238E27FC236}">
                <a16:creationId xmlns:a16="http://schemas.microsoft.com/office/drawing/2014/main" id="{CBB08CD6-772C-42CA-8064-637D47DE7829}"/>
              </a:ext>
            </a:extLst>
          </p:cNvPr>
          <p:cNvSpPr>
            <a:spLocks noGrp="1"/>
          </p:cNvSpPr>
          <p:nvPr>
            <p:ph idx="1"/>
          </p:nvPr>
        </p:nvSpPr>
        <p:spPr>
          <a:xfrm>
            <a:off x="733589" y="1527142"/>
            <a:ext cx="11143380" cy="5099901"/>
          </a:xfrm>
        </p:spPr>
        <p:txBody>
          <a:bodyPr vert="horz" lIns="91440" tIns="45720" rIns="91440" bIns="45720" rtlCol="0" anchor="t">
            <a:normAutofit fontScale="85000" lnSpcReduction="10000"/>
          </a:bodyPr>
          <a:lstStyle/>
          <a:p>
            <a:r>
              <a:rPr lang="en-US" sz="2800" b="1" u="sng"/>
              <a:t>Nathan</a:t>
            </a:r>
            <a:r>
              <a:rPr lang="en-US" sz="2800"/>
              <a:t>: Background and Problem Formulation, Implementation (Peripheral Unit Slide), Overview of Budget, General Slide Design Review</a:t>
            </a:r>
          </a:p>
          <a:p>
            <a:r>
              <a:rPr lang="en-US" sz="2800" b="1" u="sng"/>
              <a:t>Lewis</a:t>
            </a:r>
            <a:r>
              <a:rPr lang="en-US" sz="2800"/>
              <a:t>:  Standards, Ethics, and Broader Impacts (also reviewed Power Supply Unit slide)</a:t>
            </a:r>
          </a:p>
          <a:p>
            <a:r>
              <a:rPr lang="en-US" sz="2800" b="1" u="sng"/>
              <a:t>Jack</a:t>
            </a:r>
            <a:r>
              <a:rPr lang="en-US" sz="2800"/>
              <a:t>: Conceptual Design (also reviewed Processing Unit slide), Software, Lessons Learned/Future Work</a:t>
            </a:r>
          </a:p>
          <a:p>
            <a:r>
              <a:rPr lang="en-US" sz="2800" b="1" u="sng"/>
              <a:t>Allison</a:t>
            </a:r>
            <a:r>
              <a:rPr lang="en-US" sz="2800"/>
              <a:t>: Detailed Design (</a:t>
            </a:r>
            <a:r>
              <a:rPr lang="en-US" sz="2800" err="1"/>
              <a:t>CoreXY</a:t>
            </a:r>
            <a:r>
              <a:rPr lang="en-US" sz="2800"/>
              <a:t> Unit and Peripheral Unit slides), Updated Detailed Design (Summarized all added Specs/Constraints), Implementation (</a:t>
            </a:r>
            <a:r>
              <a:rPr lang="en-US" sz="2800" err="1"/>
              <a:t>CoreXY</a:t>
            </a:r>
            <a:r>
              <a:rPr lang="en-US" sz="2800"/>
              <a:t> Unit Slide), Lessons Learned/Future Work</a:t>
            </a:r>
          </a:p>
          <a:p>
            <a:r>
              <a:rPr lang="en-US" sz="2800" b="1" u="sng"/>
              <a:t>Noah</a:t>
            </a:r>
            <a:r>
              <a:rPr lang="en-US" sz="2800"/>
              <a:t>: Detailed Design (Processing Unit, Control Unit, and Power Supply Unit slides), Experimentation</a:t>
            </a:r>
          </a:p>
        </p:txBody>
      </p:sp>
      <p:sp>
        <p:nvSpPr>
          <p:cNvPr id="4" name="Slide Number Placeholder 3">
            <a:extLst>
              <a:ext uri="{FF2B5EF4-FFF2-40B4-BE49-F238E27FC236}">
                <a16:creationId xmlns:a16="http://schemas.microsoft.com/office/drawing/2014/main" id="{4E828ED0-946A-462B-BD69-9A86C93F55C2}"/>
              </a:ext>
            </a:extLst>
          </p:cNvPr>
          <p:cNvSpPr>
            <a:spLocks noGrp="1"/>
          </p:cNvSpPr>
          <p:nvPr>
            <p:ph type="sldNum" sz="quarter" idx="12"/>
          </p:nvPr>
        </p:nvSpPr>
        <p:spPr>
          <a:xfrm>
            <a:off x="10514011" y="5883275"/>
            <a:ext cx="753545" cy="365125"/>
          </a:xfrm>
        </p:spPr>
        <p:txBody>
          <a:bodyPr>
            <a:normAutofit/>
          </a:bodyPr>
          <a:lstStyle/>
          <a:p>
            <a:pPr>
              <a:spcAft>
                <a:spcPts val="600"/>
              </a:spcAft>
            </a:pPr>
            <a:fld id="{4072BC8D-D296-40C7-BB87-C3ACFF7B6C6E}" type="slidenum">
              <a:rPr lang="en-US" smtClean="0"/>
              <a:pPr>
                <a:spcAft>
                  <a:spcPts val="600"/>
                </a:spcAft>
              </a:pPr>
              <a:t>33</a:t>
            </a:fld>
            <a:endParaRPr lang="en-US"/>
          </a:p>
        </p:txBody>
      </p:sp>
    </p:spTree>
    <p:extLst>
      <p:ext uri="{BB962C8B-B14F-4D97-AF65-F5344CB8AC3E}">
        <p14:creationId xmlns:p14="http://schemas.microsoft.com/office/powerpoint/2010/main" val="2848255033"/>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D341744155E354F824B29064837A430" ma:contentTypeVersion="5" ma:contentTypeDescription="Create a new document." ma:contentTypeScope="" ma:versionID="2f7f68f1b303bd91b32d1c44941afcdf">
  <xsd:schema xmlns:xsd="http://www.w3.org/2001/XMLSchema" xmlns:xs="http://www.w3.org/2001/XMLSchema" xmlns:p="http://schemas.microsoft.com/office/2006/metadata/properties" xmlns:ns3="cc5d0f04-b13e-4d2b-93d4-e441ef27d899" targetNamespace="http://schemas.microsoft.com/office/2006/metadata/properties" ma:root="true" ma:fieldsID="4b6b8d027857c389dab6f5cdb5c89dfa" ns3:_="">
    <xsd:import namespace="cc5d0f04-b13e-4d2b-93d4-e441ef27d89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5d0f04-b13e-4d2b-93d4-e441ef27d8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FF2951-C312-41AB-90E8-CCB303F37D34}">
  <ds:schemaRefs>
    <ds:schemaRef ds:uri="http://schemas.microsoft.com/office/2006/documentManagement/types"/>
    <ds:schemaRef ds:uri="http://purl.org/dc/elements/1.1/"/>
    <ds:schemaRef ds:uri="http://schemas.microsoft.com/office/2006/metadata/properties"/>
    <ds:schemaRef ds:uri="http://purl.org/dc/dcmitype/"/>
    <ds:schemaRef ds:uri="http://purl.org/dc/terms/"/>
    <ds:schemaRef ds:uri="http://schemas.microsoft.com/office/infopath/2007/PartnerControls"/>
    <ds:schemaRef ds:uri="http://schemas.openxmlformats.org/package/2006/metadata/core-properties"/>
    <ds:schemaRef ds:uri="cc5d0f04-b13e-4d2b-93d4-e441ef27d899"/>
    <ds:schemaRef ds:uri="http://www.w3.org/XML/1998/namespace"/>
  </ds:schemaRefs>
</ds:datastoreItem>
</file>

<file path=customXml/itemProps2.xml><?xml version="1.0" encoding="utf-8"?>
<ds:datastoreItem xmlns:ds="http://schemas.openxmlformats.org/officeDocument/2006/customXml" ds:itemID="{2D17D9B8-79F5-4030-BD7E-35E2EBB1163E}">
  <ds:schemaRefs>
    <ds:schemaRef ds:uri="cc5d0f04-b13e-4d2b-93d4-e441ef27d8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64A64FF-F751-47DF-A905-AA39AB840FED}">
  <ds:schemaRefs>
    <ds:schemaRef ds:uri="http://schemas.microsoft.com/sharepoint/v3/contenttype/forms"/>
  </ds:schemaRefs>
</ds:datastoreItem>
</file>

<file path=docMetadata/LabelInfo.xml><?xml version="1.0" encoding="utf-8"?>
<clbl:labelList xmlns:clbl="http://schemas.microsoft.com/office/2020/mipLabelMetadata">
  <clbl:label id="{66fecaf8-3dc0-4d2c-b8b8-eff0ddea46f0}" enabled="0" method="" siteId="{66fecaf8-3dc0-4d2c-b8b8-eff0ddea46f0}" removed="1"/>
</clbl:labelList>
</file>

<file path=docProps/app.xml><?xml version="1.0" encoding="utf-8"?>
<Properties xmlns="http://schemas.openxmlformats.org/officeDocument/2006/extended-properties" xmlns:vt="http://schemas.openxmlformats.org/officeDocument/2006/docPropsVTypes">
  <Template>TM04033921[[fn=Damask]]</Template>
  <TotalTime>0</TotalTime>
  <Words>4006</Words>
  <Application>Microsoft Office PowerPoint</Application>
  <PresentationFormat>Widescreen</PresentationFormat>
  <Paragraphs>343</Paragraphs>
  <Slides>33</Slides>
  <Notes>10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Bookman Old Style</vt:lpstr>
      <vt:lpstr>Calibri</vt:lpstr>
      <vt:lpstr>OCR A Extended</vt:lpstr>
      <vt:lpstr>PT Sans</vt:lpstr>
      <vt:lpstr>Rockwell</vt:lpstr>
      <vt:lpstr>Damask</vt:lpstr>
      <vt:lpstr>Chess       Impress</vt:lpstr>
      <vt:lpstr>Outline</vt:lpstr>
      <vt:lpstr>Background </vt:lpstr>
      <vt:lpstr>Problem Formulation</vt:lpstr>
      <vt:lpstr>Outline</vt:lpstr>
      <vt:lpstr>Standards, Ethics, and Broader Impacts</vt:lpstr>
      <vt:lpstr>Outline</vt:lpstr>
      <vt:lpstr>Conceptual Design</vt:lpstr>
      <vt:lpstr>Chess Board  Block Diagram</vt:lpstr>
      <vt:lpstr>Chess Board  Flow Diagram</vt:lpstr>
      <vt:lpstr>Outline</vt:lpstr>
      <vt:lpstr>Processing Unit</vt:lpstr>
      <vt:lpstr>How specifications and constraints affected design</vt:lpstr>
      <vt:lpstr>Control Unit</vt:lpstr>
      <vt:lpstr>How specifications and constraints affected design</vt:lpstr>
      <vt:lpstr>Corexy Unit</vt:lpstr>
      <vt:lpstr>How specifications and constraints affected design</vt:lpstr>
      <vt:lpstr>PERIPHERALs Unit</vt:lpstr>
      <vt:lpstr>How specifications and constraints affected design</vt:lpstr>
      <vt:lpstr>Power Supply Unit</vt:lpstr>
      <vt:lpstr>How specifications and constraints affected design</vt:lpstr>
      <vt:lpstr>Outline</vt:lpstr>
      <vt:lpstr>Implementation Peripherals unit </vt:lpstr>
      <vt:lpstr>Implementation corexy unit </vt:lpstr>
      <vt:lpstr>Implementation Power supply unit </vt:lpstr>
      <vt:lpstr>Software</vt:lpstr>
      <vt:lpstr>ExperimentatioN</vt:lpstr>
      <vt:lpstr>Budget overview </vt:lpstr>
      <vt:lpstr>Outline</vt:lpstr>
      <vt:lpstr>Demonstration</vt:lpstr>
      <vt:lpstr>Outline</vt:lpstr>
      <vt:lpstr>Lessons learned / Future work</vt:lpstr>
      <vt:lpstr>Statement of Contributions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Johnson, Christopher</dc:creator>
  <cp:lastModifiedBy>Beaty, Noah (nabeaty42)</cp:lastModifiedBy>
  <cp:revision>1</cp:revision>
  <dcterms:created xsi:type="dcterms:W3CDTF">2025-08-19T14:42:12Z</dcterms:created>
  <dcterms:modified xsi:type="dcterms:W3CDTF">2026-05-06T20:46:19Z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0x010100BD341744155E354F824B29064837A430</vt:lpwstr>
  </property>
</Properties>
</file>